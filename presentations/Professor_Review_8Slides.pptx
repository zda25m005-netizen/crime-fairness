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rebuilt the FedCrime paper - crime prediction across six police stations using federated learning, so no station shares its raw data. On real Los Angeles data we reproduced their results. Then we split neighbourhoods into three groups by how much crime they have. Busy areas scored 69, quiet areas 28. A 41-point gap. Our goal was to close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questions about gated and attention. Top left shows actual scores with TCN as the dashed line - plain GCN collapses at 3 and 4 layers. Bottom left is zoomed in so you can see gated and attention are always in the shaded zone, below TCN, by about 1 to 4 points. Right side ranks all 24 comparisons. Plain collapses because it is forced to average with neighbours every layer and cannot stop. Gated and attention have a switch and learned to turn the graph off, so they land where TCN already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give up after one attempt. Five different approaches. Reweighting actually made it worse. Group-DRO and adaptive thresholds did nothing at any setting. Then graphs - twenty-four comparisons across three graph types, four depths and two cities, each against an equal-sized control. Twenty-two negative. Zero worked. When five reasonable methods all fail, that is telling you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why every fix failed. The F1 score gives free points where crime is common. A model with no skill at all, that just says crime every day, scores 66.7 in busy areas and 9.5 in quiet ones. So most of our 41-point gap was going to be there no matter how good the model was. We then checked six published papers - every one shows the same upward slope. Their reported scores track crime volume. This basic maths is known and we cite it; what is new is showing it is happening across this whole literature.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new part. We found a change that raised the fairness score for poor areas by 12.87 points. Our own base-rate correction said the gap had closed completely. But AUC went DOWN by 3.05, and the model went from saying crime 23 percent of the time to 80 percent. Then the decisive test: with no graph at all, just moving the decision threshold, we got a BIGGER improvement of 13.63, while AUC stayed at exactly 61.99 on all nineteen rows. So the fairness improvement was never about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contributions, strongest first. Correcting for base rates is not enough - that is the new claim. Second, published fairness gaps in this field track crime volume. Third, it changes who gets help: model selection is unaffected but remediation targeting flips for every model. Target is ACM FAccT 2027, deadline 3 November, eleven weeks away. Their call for papers asks specifically for work examining evaluation metrics. The decision I need from you is whether to build the paper around this and save the attack-defence work for a second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physics, nothing worked. Six methods, each against an identical model with the new part switched off. Reweighting made the gap worse. Group-DRO and adaptive thresholds did nothing. All three graph types came out below their controls. On the burglary data the model scored 53 out of 100 - fifty is a coin flip. We concluded the limit was in the data, not the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wrote a real criminology rule into the model. The score went from 53 to 71 out of 100. Five seeds, t equals 9.6, so this is not luck. Generic smoothing scored 44.6 - worse than nothing - which proves it is the burglary equations doing the work, not just smoothing. It helped poor neighbourhoods most, 51 to 58, and cut false alarms there from 3.2 times reality to 1.8 times. Honest limit: it learned where, not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384048"/>
            <a:ext cx="10881360" cy="621792"/>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Where we started: the problem</a:t>
            </a:r>
            <a:endParaRPr lang="en-US" sz="3600" dirty="0"/>
          </a:p>
        </p:txBody>
      </p:sp>
      <p:sp>
        <p:nvSpPr>
          <p:cNvPr id="3" name="Text 1"/>
          <p:cNvSpPr/>
          <p:nvPr/>
        </p:nvSpPr>
        <p:spPr>
          <a:xfrm>
            <a:off x="640080" y="1024128"/>
            <a:ext cx="10881360" cy="347472"/>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Crime prediction for 6 police stations, trained together without sharing data (federated learning)</a:t>
            </a:r>
            <a:endParaRPr lang="en-US" sz="1450" dirty="0"/>
          </a:p>
        </p:txBody>
      </p:sp>
      <p:pic>
        <p:nvPicPr>
          <p:cNvPr id="4" name="Image 0" descr="slides/s1_gap.png">    </p:cNvPr>
          <p:cNvPicPr>
            <a:picLocks noChangeAspect="1"/>
          </p:cNvPicPr>
          <p:nvPr/>
        </p:nvPicPr>
        <p:blipFill>
          <a:blip r:embed="rId1"/>
          <a:stretch>
            <a:fillRect/>
          </a:stretch>
        </p:blipFill>
        <p:spPr>
          <a:xfrm>
            <a:off x="594360" y="1600200"/>
            <a:ext cx="5852160" cy="3017520"/>
          </a:xfrm>
          <a:prstGeom prst="rect">
            <a:avLst/>
          </a:prstGeom>
        </p:spPr>
      </p:pic>
      <p:sp>
        <p:nvSpPr>
          <p:cNvPr id="5" name="Text 2"/>
          <p:cNvSpPr/>
          <p:nvPr/>
        </p:nvSpPr>
        <p:spPr>
          <a:xfrm>
            <a:off x="594360" y="4663440"/>
            <a:ext cx="5852160" cy="320040"/>
          </a:xfrm>
          <a:prstGeom prst="rect">
            <a:avLst/>
          </a:prstGeom>
          <a:noFill/>
          <a:ln/>
        </p:spPr>
        <p:txBody>
          <a:bodyPr wrap="square" rtlCol="0" anchor="ctr"/>
          <a:lstStyle/>
          <a:p>
            <a:pPr indent="0" marL="0">
              <a:buNone/>
            </a:pPr>
            <a:r>
              <a:rPr lang="en-US" sz="1150" i="1" dirty="0">
                <a:solidFill>
                  <a:srgbClr val="CADCFC"/>
                </a:solidFill>
                <a:latin typeface="Calibri" pitchFamily="34" charset="0"/>
                <a:ea typeface="Calibri" pitchFamily="34" charset="-122"/>
                <a:cs typeface="Calibri" pitchFamily="34" charset="-120"/>
              </a:rPr>
              <a:t>Los Angeles 2018 · 113 neighbourhoods · 8 crime types · 365 days</a:t>
            </a:r>
            <a:endParaRPr lang="en-US" sz="1150" dirty="0"/>
          </a:p>
        </p:txBody>
      </p:sp>
      <p:sp>
        <p:nvSpPr>
          <p:cNvPr id="6" name="Shape 3"/>
          <p:cNvSpPr/>
          <p:nvPr/>
        </p:nvSpPr>
        <p:spPr>
          <a:xfrm>
            <a:off x="6720840" y="1600200"/>
            <a:ext cx="4937760" cy="1298448"/>
          </a:xfrm>
          <a:prstGeom prst="roundRect">
            <a:avLst>
              <a:gd name="adj" fmla="val 4930"/>
            </a:avLst>
          </a:prstGeom>
          <a:solidFill>
            <a:srgbClr val="2A3570"/>
          </a:solidFill>
          <a:ln w="12700">
            <a:solidFill>
              <a:srgbClr val="2A3570"/>
            </a:solidFill>
            <a:prstDash val="solid"/>
          </a:ln>
        </p:spPr>
      </p:sp>
      <p:sp>
        <p:nvSpPr>
          <p:cNvPr id="7" name="Text 4"/>
          <p:cNvSpPr/>
          <p:nvPr/>
        </p:nvSpPr>
        <p:spPr>
          <a:xfrm>
            <a:off x="6967728" y="1719072"/>
            <a:ext cx="4480560" cy="256032"/>
          </a:xfrm>
          <a:prstGeom prst="rect">
            <a:avLst/>
          </a:prstGeom>
          <a:noFill/>
          <a:ln/>
        </p:spPr>
        <p:txBody>
          <a:bodyPr wrap="square" lIns="0" tIns="0" rIns="0" bIns="0" rtlCol="0" anchor="ctr"/>
          <a:lstStyle/>
          <a:p>
            <a:pPr indent="0" marL="0">
              <a:buNone/>
            </a:pPr>
            <a:r>
              <a:rPr lang="en-US" sz="1150" b="1" dirty="0">
                <a:solidFill>
                  <a:srgbClr val="CADCFC"/>
                </a:solidFill>
                <a:latin typeface="Calibri" pitchFamily="34" charset="0"/>
                <a:ea typeface="Calibri" pitchFamily="34" charset="-122"/>
                <a:cs typeface="Calibri" pitchFamily="34" charset="-120"/>
              </a:rPr>
              <a:t>THE PROBLEM</a:t>
            </a:r>
            <a:endParaRPr lang="en-US" sz="1150" dirty="0"/>
          </a:p>
        </p:txBody>
      </p:sp>
      <p:sp>
        <p:nvSpPr>
          <p:cNvPr id="8" name="Text 5"/>
          <p:cNvSpPr/>
          <p:nvPr/>
        </p:nvSpPr>
        <p:spPr>
          <a:xfrm>
            <a:off x="6967728" y="1993392"/>
            <a:ext cx="4480560" cy="804672"/>
          </a:xfrm>
          <a:prstGeom prst="rect">
            <a:avLst/>
          </a:prstGeom>
          <a:noFill/>
          <a:ln/>
        </p:spPr>
        <p:txBody>
          <a:bodyPr wrap="square" lIns="0" tIns="0" rIns="0" bIns="0" rtlCol="0" anchor="ctr"/>
          <a:lstStyle/>
          <a:p>
            <a:pPr indent="0" marL="0">
              <a:lnSpc>
                <a:spcPts val="1900"/>
              </a:lnSpc>
              <a:buNone/>
            </a:pPr>
            <a:r>
              <a:rPr lang="en-US" sz="1400" dirty="0">
                <a:solidFill>
                  <a:srgbClr val="FFFFFF"/>
                </a:solidFill>
                <a:latin typeface="Calibri" pitchFamily="34" charset="0"/>
                <a:ea typeface="Calibri" pitchFamily="34" charset="-122"/>
                <a:cs typeface="Calibri" pitchFamily="34" charset="-120"/>
              </a:rPr>
              <a:t>The model appeared to serve poor, low-crime neighbourhoods far worse than busy ones — a 41-point gap.</a:t>
            </a:r>
            <a:endParaRPr lang="en-US" sz="1400" dirty="0"/>
          </a:p>
        </p:txBody>
      </p:sp>
      <p:sp>
        <p:nvSpPr>
          <p:cNvPr id="9" name="Shape 6"/>
          <p:cNvSpPr/>
          <p:nvPr/>
        </p:nvSpPr>
        <p:spPr>
          <a:xfrm>
            <a:off x="6720840" y="3035808"/>
            <a:ext cx="4937760" cy="1298448"/>
          </a:xfrm>
          <a:prstGeom prst="roundRect">
            <a:avLst>
              <a:gd name="adj" fmla="val 4930"/>
            </a:avLst>
          </a:prstGeom>
          <a:solidFill>
            <a:srgbClr val="2A3570"/>
          </a:solidFill>
          <a:ln w="12700">
            <a:solidFill>
              <a:srgbClr val="2A3570"/>
            </a:solidFill>
            <a:prstDash val="solid"/>
          </a:ln>
        </p:spPr>
      </p:sp>
      <p:sp>
        <p:nvSpPr>
          <p:cNvPr id="10" name="Text 7"/>
          <p:cNvSpPr/>
          <p:nvPr/>
        </p:nvSpPr>
        <p:spPr>
          <a:xfrm>
            <a:off x="6967728" y="3154680"/>
            <a:ext cx="4480560" cy="256032"/>
          </a:xfrm>
          <a:prstGeom prst="rect">
            <a:avLst/>
          </a:prstGeom>
          <a:noFill/>
          <a:ln/>
        </p:spPr>
        <p:txBody>
          <a:bodyPr wrap="square" lIns="0" tIns="0" rIns="0" bIns="0" rtlCol="0" anchor="ctr"/>
          <a:lstStyle/>
          <a:p>
            <a:pPr indent="0" marL="0">
              <a:buNone/>
            </a:pPr>
            <a:r>
              <a:rPr lang="en-US" sz="1150" b="1" dirty="0">
                <a:solidFill>
                  <a:srgbClr val="CADCFC"/>
                </a:solidFill>
                <a:latin typeface="Calibri" pitchFamily="34" charset="0"/>
                <a:ea typeface="Calibri" pitchFamily="34" charset="-122"/>
                <a:cs typeface="Calibri" pitchFamily="34" charset="-120"/>
              </a:rPr>
              <a:t>WHY IT MATTERS</a:t>
            </a:r>
            <a:endParaRPr lang="en-US" sz="1150" dirty="0"/>
          </a:p>
        </p:txBody>
      </p:sp>
      <p:sp>
        <p:nvSpPr>
          <p:cNvPr id="11" name="Text 8"/>
          <p:cNvSpPr/>
          <p:nvPr/>
        </p:nvSpPr>
        <p:spPr>
          <a:xfrm>
            <a:off x="6967728" y="3429000"/>
            <a:ext cx="4480560" cy="804672"/>
          </a:xfrm>
          <a:prstGeom prst="rect">
            <a:avLst/>
          </a:prstGeom>
          <a:noFill/>
          <a:ln/>
        </p:spPr>
        <p:txBody>
          <a:bodyPr wrap="square" lIns="0" tIns="0" rIns="0" bIns="0" rtlCol="0" anchor="ctr"/>
          <a:lstStyle/>
          <a:p>
            <a:pPr indent="0" marL="0">
              <a:lnSpc>
                <a:spcPts val="1900"/>
              </a:lnSpc>
              <a:buNone/>
            </a:pPr>
            <a:r>
              <a:rPr lang="en-US" sz="1400" dirty="0">
                <a:solidFill>
                  <a:srgbClr val="FFFFFF"/>
                </a:solidFill>
                <a:latin typeface="Calibri" pitchFamily="34" charset="0"/>
                <a:ea typeface="Calibri" pitchFamily="34" charset="-122"/>
                <a:cs typeface="Calibri" pitchFamily="34" charset="-120"/>
              </a:rPr>
              <a:t>These systems decide where police patrol. If the model fails poor areas, real people are affected.</a:t>
            </a:r>
            <a:endParaRPr lang="en-US" sz="1400" dirty="0"/>
          </a:p>
        </p:txBody>
      </p:sp>
      <p:sp>
        <p:nvSpPr>
          <p:cNvPr id="12" name="Shape 9"/>
          <p:cNvSpPr/>
          <p:nvPr/>
        </p:nvSpPr>
        <p:spPr>
          <a:xfrm>
            <a:off x="6720840" y="4471416"/>
            <a:ext cx="4937760" cy="1298448"/>
          </a:xfrm>
          <a:prstGeom prst="roundRect">
            <a:avLst>
              <a:gd name="adj" fmla="val 4930"/>
            </a:avLst>
          </a:prstGeom>
          <a:solidFill>
            <a:srgbClr val="1E8449"/>
          </a:solidFill>
          <a:ln w="12700">
            <a:solidFill>
              <a:srgbClr val="1E8449"/>
            </a:solidFill>
            <a:prstDash val="solid"/>
          </a:ln>
        </p:spPr>
      </p:sp>
      <p:sp>
        <p:nvSpPr>
          <p:cNvPr id="13" name="Text 10"/>
          <p:cNvSpPr/>
          <p:nvPr/>
        </p:nvSpPr>
        <p:spPr>
          <a:xfrm>
            <a:off x="6967728" y="4590288"/>
            <a:ext cx="4480560" cy="256032"/>
          </a:xfrm>
          <a:prstGeom prst="rect">
            <a:avLst/>
          </a:prstGeom>
          <a:noFill/>
          <a:ln/>
        </p:spPr>
        <p:txBody>
          <a:bodyPr wrap="square" lIns="0" tIns="0" rIns="0" bIns="0" rtlCol="0" anchor="ctr"/>
          <a:lstStyle/>
          <a:p>
            <a:pPr indent="0" marL="0">
              <a:buNone/>
            </a:pPr>
            <a:r>
              <a:rPr lang="en-US" sz="1150" b="1" dirty="0">
                <a:solidFill>
                  <a:srgbClr val="D4EFDF"/>
                </a:solidFill>
                <a:latin typeface="Calibri" pitchFamily="34" charset="0"/>
                <a:ea typeface="Calibri" pitchFamily="34" charset="-122"/>
                <a:cs typeface="Calibri" pitchFamily="34" charset="-120"/>
              </a:rPr>
              <a:t>OUR ORIGINAL GOAL</a:t>
            </a:r>
            <a:endParaRPr lang="en-US" sz="1150" dirty="0"/>
          </a:p>
        </p:txBody>
      </p:sp>
      <p:sp>
        <p:nvSpPr>
          <p:cNvPr id="14" name="Text 11"/>
          <p:cNvSpPr/>
          <p:nvPr/>
        </p:nvSpPr>
        <p:spPr>
          <a:xfrm>
            <a:off x="6967728" y="4864608"/>
            <a:ext cx="4480560" cy="804672"/>
          </a:xfrm>
          <a:prstGeom prst="rect">
            <a:avLst/>
          </a:prstGeom>
          <a:noFill/>
          <a:ln/>
        </p:spPr>
        <p:txBody>
          <a:bodyPr wrap="square" lIns="0" tIns="0" rIns="0" bIns="0" rtlCol="0" anchor="ctr"/>
          <a:lstStyle/>
          <a:p>
            <a:pPr indent="0" marL="0">
              <a:lnSpc>
                <a:spcPts val="1900"/>
              </a:lnSpc>
              <a:buNone/>
            </a:pPr>
            <a:r>
              <a:rPr lang="en-US" sz="1400" dirty="0">
                <a:solidFill>
                  <a:srgbClr val="FFFFFF"/>
                </a:solidFill>
                <a:latin typeface="Calibri" pitchFamily="34" charset="0"/>
                <a:ea typeface="Calibri" pitchFamily="34" charset="-122"/>
                <a:cs typeface="Calibri" pitchFamily="34" charset="-120"/>
              </a:rPr>
              <a:t>Close this 41-point gap so the model treats rich and poor areas equally.</a:t>
            </a:r>
            <a:endParaRPr lang="en-US" sz="1400" dirty="0"/>
          </a:p>
        </p:txBody>
      </p:sp>
      <p:sp>
        <p:nvSpPr>
          <p:cNvPr id="15" name="Text 12"/>
          <p:cNvSpPr/>
          <p:nvPr/>
        </p:nvSpPr>
        <p:spPr>
          <a:xfrm>
            <a:off x="640080" y="6144768"/>
            <a:ext cx="5486400" cy="292608"/>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Gaurav Jha  ·  Project review</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74320"/>
            <a:ext cx="11064240" cy="640080"/>
          </a:xfrm>
          <a:prstGeom prst="rect">
            <a:avLst/>
          </a:prstGeom>
          <a:noFill/>
          <a:ln/>
        </p:spPr>
        <p:txBody>
          <a:bodyPr wrap="square"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Backup: why gated and attention are behind TCN</a:t>
            </a:r>
            <a:endParaRPr lang="en-US" sz="3300" dirty="0"/>
          </a:p>
        </p:txBody>
      </p:sp>
      <p:sp>
        <p:nvSpPr>
          <p:cNvPr id="3" name="Text 1"/>
          <p:cNvSpPr/>
          <p:nvPr/>
        </p:nvSpPr>
        <p:spPr>
          <a:xfrm>
            <a:off x="548640" y="905256"/>
            <a:ext cx="11064240" cy="365760"/>
          </a:xfrm>
          <a:prstGeom prst="rect">
            <a:avLst/>
          </a:prstGeom>
          <a:noFill/>
          <a:ln/>
        </p:spPr>
        <p:txBody>
          <a:bodyPr wrap="square" rtlCol="0" anchor="ctr"/>
          <a:lstStyle/>
          <a:p>
            <a:pPr indent="0" marL="0">
              <a:buNone/>
            </a:pPr>
            <a:r>
              <a:rPr lang="en-US" sz="1450" dirty="0">
                <a:solidFill>
                  <a:srgbClr val="5A5A5A"/>
                </a:solidFill>
                <a:latin typeface="Calibri" pitchFamily="34" charset="0"/>
                <a:ea typeface="Calibri" pitchFamily="34" charset="-122"/>
                <a:cs typeface="Calibri" pitchFamily="34" charset="-120"/>
              </a:rPr>
              <a:t>Same data, shown three ways. TCN is the dashed black line — nothing gets above it.</a:t>
            </a:r>
            <a:endParaRPr lang="en-US" sz="1450" dirty="0"/>
          </a:p>
        </p:txBody>
      </p:sp>
      <p:pic>
        <p:nvPicPr>
          <p:cNvPr id="4" name="Image 0" descr="slides/g1_absolute.png">    </p:cNvPr>
          <p:cNvPicPr>
            <a:picLocks noChangeAspect="1"/>
          </p:cNvPicPr>
          <p:nvPr/>
        </p:nvPicPr>
        <p:blipFill>
          <a:blip r:embed="rId1"/>
          <a:stretch>
            <a:fillRect/>
          </a:stretch>
        </p:blipFill>
        <p:spPr>
          <a:xfrm>
            <a:off x="411480" y="1298448"/>
            <a:ext cx="6812280" cy="2532888"/>
          </a:xfrm>
          <a:prstGeom prst="rect">
            <a:avLst/>
          </a:prstGeom>
        </p:spPr>
      </p:pic>
      <p:sp>
        <p:nvSpPr>
          <p:cNvPr id="5" name="Text 2"/>
          <p:cNvSpPr/>
          <p:nvPr/>
        </p:nvSpPr>
        <p:spPr>
          <a:xfrm>
            <a:off x="411480" y="3877056"/>
            <a:ext cx="6812280" cy="384048"/>
          </a:xfrm>
          <a:prstGeom prst="rect">
            <a:avLst/>
          </a:prstGeom>
          <a:noFill/>
          <a:ln/>
        </p:spPr>
        <p:txBody>
          <a:bodyPr wrap="square" rtlCol="0" anchor="ctr"/>
          <a:lstStyle/>
          <a:p>
            <a:pPr indent="0" marL="0">
              <a:buNone/>
            </a:pPr>
            <a:r>
              <a:rPr lang="en-US" sz="1100" i="1" dirty="0">
                <a:solidFill>
                  <a:srgbClr val="5A5A5A"/>
                </a:solidFill>
                <a:latin typeface="Calibri" pitchFamily="34" charset="0"/>
                <a:ea typeface="Calibri" pitchFamily="34" charset="-122"/>
                <a:cs typeface="Calibri" pitchFamily="34" charset="-120"/>
              </a:rPr>
              <a:t>Actual scores, not differences. Plain GCN collapses at 3–4 layers. Gated and attention look close to TCN — but look closer.</a:t>
            </a:r>
            <a:endParaRPr lang="en-US" sz="1100" dirty="0"/>
          </a:p>
        </p:txBody>
      </p:sp>
      <p:pic>
        <p:nvPicPr>
          <p:cNvPr id="6" name="Image 1" descr="slides/g2_zoom.png">    </p:cNvPr>
          <p:cNvPicPr>
            <a:picLocks noChangeAspect="1"/>
          </p:cNvPicPr>
          <p:nvPr/>
        </p:nvPicPr>
        <p:blipFill>
          <a:blip r:embed="rId2"/>
          <a:stretch>
            <a:fillRect/>
          </a:stretch>
        </p:blipFill>
        <p:spPr>
          <a:xfrm>
            <a:off x="411480" y="4279392"/>
            <a:ext cx="6812280" cy="2752344"/>
          </a:xfrm>
          <a:prstGeom prst="rect">
            <a:avLst/>
          </a:prstGeom>
        </p:spPr>
      </p:pic>
      <p:pic>
        <p:nvPicPr>
          <p:cNvPr id="7" name="Image 2" descr="slides/g3_all24.png">    </p:cNvPr>
          <p:cNvPicPr>
            <a:picLocks noChangeAspect="1"/>
          </p:cNvPicPr>
          <p:nvPr/>
        </p:nvPicPr>
        <p:blipFill>
          <a:blip r:embed="rId3"/>
          <a:stretch>
            <a:fillRect/>
          </a:stretch>
        </p:blipFill>
        <p:spPr>
          <a:xfrm>
            <a:off x="7452360" y="1316736"/>
            <a:ext cx="4343400" cy="2130552"/>
          </a:xfrm>
          <a:prstGeom prst="rect">
            <a:avLst/>
          </a:prstGeom>
        </p:spPr>
      </p:pic>
      <p:sp>
        <p:nvSpPr>
          <p:cNvPr id="8" name="Shape 3"/>
          <p:cNvSpPr/>
          <p:nvPr/>
        </p:nvSpPr>
        <p:spPr>
          <a:xfrm>
            <a:off x="7452360" y="3584448"/>
            <a:ext cx="4343400" cy="1298448"/>
          </a:xfrm>
          <a:prstGeom prst="roundRect">
            <a:avLst>
              <a:gd name="adj" fmla="val 4930"/>
            </a:avLst>
          </a:prstGeom>
          <a:solidFill>
            <a:srgbClr val="F4F6FA"/>
          </a:solidFill>
          <a:ln w="12700">
            <a:solidFill>
              <a:srgbClr val="F4F6FA"/>
            </a:solidFill>
            <a:prstDash val="solid"/>
          </a:ln>
        </p:spPr>
      </p:sp>
      <p:sp>
        <p:nvSpPr>
          <p:cNvPr id="9" name="Text 4"/>
          <p:cNvSpPr/>
          <p:nvPr/>
        </p:nvSpPr>
        <p:spPr>
          <a:xfrm>
            <a:off x="7680960" y="3675888"/>
            <a:ext cx="3931920" cy="237744"/>
          </a:xfrm>
          <a:prstGeom prst="rect">
            <a:avLst/>
          </a:prstGeom>
          <a:noFill/>
          <a:ln/>
        </p:spPr>
        <p:txBody>
          <a:bodyPr wrap="square" lIns="0" tIns="0" rIns="0" bIns="0"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WHY PLAIN COLLAPSES</a:t>
            </a:r>
            <a:endParaRPr lang="en-US" sz="1100" dirty="0"/>
          </a:p>
        </p:txBody>
      </p:sp>
      <p:sp>
        <p:nvSpPr>
          <p:cNvPr id="10" name="Text 5"/>
          <p:cNvSpPr/>
          <p:nvPr/>
        </p:nvSpPr>
        <p:spPr>
          <a:xfrm>
            <a:off x="7680960" y="3913632"/>
            <a:ext cx="3931920" cy="896112"/>
          </a:xfrm>
          <a:prstGeom prst="rect">
            <a:avLst/>
          </a:prstGeom>
          <a:noFill/>
          <a:ln/>
        </p:spPr>
        <p:txBody>
          <a:bodyPr wrap="square" lIns="0" tIns="0" rIns="0" bIns="0" rtlCol="0" anchor="ctr"/>
          <a:lstStyle/>
          <a:p>
            <a:pPr indent="0" marL="0">
              <a:lnSpc>
                <a:spcPts val="1400"/>
              </a:lnSpc>
              <a:buNone/>
            </a:pPr>
            <a:r>
              <a:rPr lang="en-US" sz="1150" dirty="0">
                <a:solidFill>
                  <a:srgbClr val="222222"/>
                </a:solidFill>
                <a:latin typeface="Calibri" pitchFamily="34" charset="0"/>
                <a:ea typeface="Calibri" pitchFamily="34" charset="-122"/>
                <a:cs typeface="Calibri" pitchFamily="34" charset="-120"/>
              </a:rPr>
              <a:t>It is forced to average with neighbours at every layer and cannot stop. By 3–4 layers all areas look identical, so the model cannot tell them apart.</a:t>
            </a:r>
            <a:endParaRPr lang="en-US" sz="1150" dirty="0"/>
          </a:p>
        </p:txBody>
      </p:sp>
      <p:sp>
        <p:nvSpPr>
          <p:cNvPr id="11" name="Shape 6"/>
          <p:cNvSpPr/>
          <p:nvPr/>
        </p:nvSpPr>
        <p:spPr>
          <a:xfrm>
            <a:off x="7452360" y="4992624"/>
            <a:ext cx="4343400" cy="1298448"/>
          </a:xfrm>
          <a:prstGeom prst="roundRect">
            <a:avLst>
              <a:gd name="adj" fmla="val 4930"/>
            </a:avLst>
          </a:prstGeom>
          <a:solidFill>
            <a:srgbClr val="EAF3EC"/>
          </a:solidFill>
          <a:ln w="12700">
            <a:solidFill>
              <a:srgbClr val="EAF3EC"/>
            </a:solidFill>
            <a:prstDash val="solid"/>
          </a:ln>
        </p:spPr>
      </p:sp>
      <p:sp>
        <p:nvSpPr>
          <p:cNvPr id="12" name="Text 7"/>
          <p:cNvSpPr/>
          <p:nvPr/>
        </p:nvSpPr>
        <p:spPr>
          <a:xfrm>
            <a:off x="7680960" y="5084064"/>
            <a:ext cx="3931920" cy="237744"/>
          </a:xfrm>
          <a:prstGeom prst="rect">
            <a:avLst/>
          </a:prstGeom>
          <a:noFill/>
          <a:ln/>
        </p:spPr>
        <p:txBody>
          <a:bodyPr wrap="square" lIns="0" tIns="0" rIns="0" bIns="0" rtlCol="0" anchor="ctr"/>
          <a:lstStyle/>
          <a:p>
            <a:pPr indent="0" marL="0">
              <a:buNone/>
            </a:pPr>
            <a:r>
              <a:rPr lang="en-US" sz="1100" b="1" dirty="0">
                <a:solidFill>
                  <a:srgbClr val="1E8449"/>
                </a:solidFill>
                <a:latin typeface="Calibri" pitchFamily="34" charset="0"/>
                <a:ea typeface="Calibri" pitchFamily="34" charset="-122"/>
                <a:cs typeface="Calibri" pitchFamily="34" charset="-120"/>
              </a:rPr>
              <a:t>WHY GATED / ATTENTION ARE FLAT</a:t>
            </a:r>
            <a:endParaRPr lang="en-US" sz="1100" dirty="0"/>
          </a:p>
        </p:txBody>
      </p:sp>
      <p:sp>
        <p:nvSpPr>
          <p:cNvPr id="13" name="Text 8"/>
          <p:cNvSpPr/>
          <p:nvPr/>
        </p:nvSpPr>
        <p:spPr>
          <a:xfrm>
            <a:off x="7680960" y="5321808"/>
            <a:ext cx="3931920" cy="896112"/>
          </a:xfrm>
          <a:prstGeom prst="rect">
            <a:avLst/>
          </a:prstGeom>
          <a:noFill/>
          <a:ln/>
        </p:spPr>
        <p:txBody>
          <a:bodyPr wrap="square" lIns="0" tIns="0" rIns="0" bIns="0" rtlCol="0" anchor="ctr"/>
          <a:lstStyle/>
          <a:p>
            <a:pPr indent="0" marL="0">
              <a:lnSpc>
                <a:spcPts val="1400"/>
              </a:lnSpc>
              <a:buNone/>
            </a:pPr>
            <a:r>
              <a:rPr lang="en-US" sz="1150" dirty="0">
                <a:solidFill>
                  <a:srgbClr val="222222"/>
                </a:solidFill>
                <a:latin typeface="Calibri" pitchFamily="34" charset="0"/>
                <a:ea typeface="Calibri" pitchFamily="34" charset="-122"/>
                <a:cs typeface="Calibri" pitchFamily="34" charset="-120"/>
              </a:rPr>
              <a:t>They have a switch. They learned to turn the graph almost OFF — so they end up doing what TCN already did, minus a small cost.</a:t>
            </a:r>
            <a:endParaRPr lang="en-US" sz="1150" dirty="0"/>
          </a:p>
        </p:txBody>
      </p:sp>
      <p:sp>
        <p:nvSpPr>
          <p:cNvPr id="14" name="Shape 9"/>
          <p:cNvSpPr/>
          <p:nvPr/>
        </p:nvSpPr>
        <p:spPr>
          <a:xfrm>
            <a:off x="7452360" y="6400800"/>
            <a:ext cx="4343400" cy="658368"/>
          </a:xfrm>
          <a:prstGeom prst="roundRect">
            <a:avLst>
              <a:gd name="adj" fmla="val 9722"/>
            </a:avLst>
          </a:prstGeom>
          <a:solidFill>
            <a:srgbClr val="FDF2F0"/>
          </a:solidFill>
          <a:ln w="12700">
            <a:solidFill>
              <a:srgbClr val="FDF2F0"/>
            </a:solidFill>
            <a:prstDash val="solid"/>
          </a:ln>
        </p:spPr>
      </p:sp>
      <p:sp>
        <p:nvSpPr>
          <p:cNvPr id="15" name="Text 10"/>
          <p:cNvSpPr/>
          <p:nvPr/>
        </p:nvSpPr>
        <p:spPr>
          <a:xfrm>
            <a:off x="7680960" y="6492240"/>
            <a:ext cx="3931920" cy="502920"/>
          </a:xfrm>
          <a:prstGeom prst="rect">
            <a:avLst/>
          </a:prstGeom>
          <a:noFill/>
          <a:ln/>
        </p:spPr>
        <p:txBody>
          <a:bodyPr wrap="square" lIns="0" tIns="0" rIns="0" bIns="0" rtlCol="0" anchor="ctr"/>
          <a:lstStyle/>
          <a:p>
            <a:pPr indent="0" marL="0">
              <a:buNone/>
            </a:pPr>
            <a:r>
              <a:rPr lang="en-US" sz="1200" b="1" dirty="0">
                <a:solidFill>
                  <a:srgbClr val="7B241C"/>
                </a:solidFill>
                <a:latin typeface="Calibri" pitchFamily="34" charset="0"/>
                <a:ea typeface="Calibri" pitchFamily="34" charset="-122"/>
                <a:cs typeface="Calibri" pitchFamily="34" charset="-120"/>
              </a:rPr>
              <a:t>Not one graph model beat TCN. 22 of 24 worse, 9 significantly.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74320"/>
            <a:ext cx="11064240" cy="640080"/>
          </a:xfrm>
          <a:prstGeom prst="rect">
            <a:avLst/>
          </a:prstGeom>
          <a:noFill/>
          <a:ln/>
        </p:spPr>
        <p:txBody>
          <a:bodyPr wrap="square"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How we tried to solve it</a:t>
            </a:r>
            <a:endParaRPr lang="en-US" sz="3300" dirty="0"/>
          </a:p>
        </p:txBody>
      </p:sp>
      <p:sp>
        <p:nvSpPr>
          <p:cNvPr id="3" name="Text 1"/>
          <p:cNvSpPr/>
          <p:nvPr/>
        </p:nvSpPr>
        <p:spPr>
          <a:xfrm>
            <a:off x="548640" y="905256"/>
            <a:ext cx="11064240" cy="365760"/>
          </a:xfrm>
          <a:prstGeom prst="rect">
            <a:avLst/>
          </a:prstGeom>
          <a:noFill/>
          <a:ln/>
        </p:spPr>
        <p:txBody>
          <a:bodyPr wrap="square" rtlCol="0" anchor="ctr"/>
          <a:lstStyle/>
          <a:p>
            <a:pPr indent="0" marL="0">
              <a:buNone/>
            </a:pPr>
            <a:r>
              <a:rPr lang="en-US" sz="1450" dirty="0">
                <a:solidFill>
                  <a:srgbClr val="5A5A5A"/>
                </a:solidFill>
                <a:latin typeface="Calibri" pitchFamily="34" charset="0"/>
                <a:ea typeface="Calibri" pitchFamily="34" charset="-122"/>
                <a:cs typeface="Calibri" pitchFamily="34" charset="-120"/>
              </a:rPr>
              <a:t>Five serious attempts. None of them worked.</a:t>
            </a:r>
            <a:endParaRPr lang="en-US" sz="1450" dirty="0"/>
          </a:p>
        </p:txBody>
      </p:sp>
      <p:sp>
        <p:nvSpPr>
          <p:cNvPr id="4" name="Shape 2"/>
          <p:cNvSpPr/>
          <p:nvPr/>
        </p:nvSpPr>
        <p:spPr>
          <a:xfrm>
            <a:off x="548640" y="1417320"/>
            <a:ext cx="365760" cy="365760"/>
          </a:xfrm>
          <a:prstGeom prst="ellipse">
            <a:avLst/>
          </a:prstGeom>
          <a:solidFill>
            <a:srgbClr val="C0392B"/>
          </a:solidFill>
          <a:ln w="12700">
            <a:solidFill>
              <a:srgbClr val="C0392B"/>
            </a:solidFill>
            <a:prstDash val="solid"/>
          </a:ln>
        </p:spPr>
      </p:sp>
      <p:sp>
        <p:nvSpPr>
          <p:cNvPr id="5" name="Text 3"/>
          <p:cNvSpPr/>
          <p:nvPr/>
        </p:nvSpPr>
        <p:spPr>
          <a:xfrm>
            <a:off x="548640" y="14173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051560" y="1371600"/>
            <a:ext cx="4892040" cy="274320"/>
          </a:xfrm>
          <a:prstGeom prst="rect">
            <a:avLst/>
          </a:prstGeom>
          <a:noFill/>
          <a:ln/>
        </p:spPr>
        <p:txBody>
          <a:bodyPr wrap="square" lIns="0" tIns="0" rIns="0" bIns="0" rtlCol="0" anchor="ctr"/>
          <a:lstStyle/>
          <a:p>
            <a:pPr indent="0" marL="0">
              <a:buNone/>
            </a:pPr>
            <a:r>
              <a:rPr lang="en-US" sz="1350" b="1" dirty="0">
                <a:solidFill>
                  <a:srgbClr val="222222"/>
                </a:solidFill>
                <a:latin typeface="Calibri" pitchFamily="34" charset="0"/>
                <a:ea typeface="Calibri" pitchFamily="34" charset="-122"/>
                <a:cs typeface="Calibri" pitchFamily="34" charset="-120"/>
              </a:rPr>
              <a:t>Give poor areas more weight</a:t>
            </a:r>
            <a:endParaRPr lang="en-US" sz="1350" dirty="0"/>
          </a:p>
        </p:txBody>
      </p:sp>
      <p:sp>
        <p:nvSpPr>
          <p:cNvPr id="7" name="Text 5"/>
          <p:cNvSpPr/>
          <p:nvPr/>
        </p:nvSpPr>
        <p:spPr>
          <a:xfrm>
            <a:off x="1051560" y="1655064"/>
            <a:ext cx="4892040" cy="566928"/>
          </a:xfrm>
          <a:prstGeom prst="rect">
            <a:avLst/>
          </a:prstGeom>
          <a:noFill/>
          <a:ln/>
        </p:spPr>
        <p:txBody>
          <a:bodyPr wrap="square" lIns="0" tIns="0" rIns="0" bIns="0" rtlCol="0" anchor="ctr"/>
          <a:lstStyle/>
          <a:p>
            <a:pPr indent="0" marL="0">
              <a:lnSpc>
                <a:spcPts val="1400"/>
              </a:lnSpc>
              <a:buNone/>
            </a:pPr>
            <a:r>
              <a:rPr lang="en-US" sz="1150" dirty="0">
                <a:solidFill>
                  <a:srgbClr val="5A5A5A"/>
                </a:solidFill>
                <a:latin typeface="Calibri" pitchFamily="34" charset="0"/>
                <a:ea typeface="Calibri" pitchFamily="34" charset="-122"/>
                <a:cs typeface="Calibri" pitchFamily="34" charset="-120"/>
              </a:rPr>
              <a:t>Standard reweighting: make the model care more about quiet areas. Gap went from 41 to 52 — WORSE.</a:t>
            </a:r>
            <a:endParaRPr lang="en-US" sz="1150" dirty="0"/>
          </a:p>
        </p:txBody>
      </p:sp>
      <p:sp>
        <p:nvSpPr>
          <p:cNvPr id="8" name="Shape 6"/>
          <p:cNvSpPr/>
          <p:nvPr/>
        </p:nvSpPr>
        <p:spPr>
          <a:xfrm>
            <a:off x="548640" y="2331720"/>
            <a:ext cx="365760" cy="365760"/>
          </a:xfrm>
          <a:prstGeom prst="ellipse">
            <a:avLst/>
          </a:prstGeom>
          <a:solidFill>
            <a:srgbClr val="B9550F"/>
          </a:solidFill>
          <a:ln w="12700">
            <a:solidFill>
              <a:srgbClr val="B9550F"/>
            </a:solidFill>
            <a:prstDash val="solid"/>
          </a:ln>
        </p:spPr>
      </p:sp>
      <p:sp>
        <p:nvSpPr>
          <p:cNvPr id="9" name="Text 7"/>
          <p:cNvSpPr/>
          <p:nvPr/>
        </p:nvSpPr>
        <p:spPr>
          <a:xfrm>
            <a:off x="548640" y="23317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051560" y="2286000"/>
            <a:ext cx="4892040" cy="274320"/>
          </a:xfrm>
          <a:prstGeom prst="rect">
            <a:avLst/>
          </a:prstGeom>
          <a:noFill/>
          <a:ln/>
        </p:spPr>
        <p:txBody>
          <a:bodyPr wrap="square" lIns="0" tIns="0" rIns="0" bIns="0" rtlCol="0" anchor="ctr"/>
          <a:lstStyle/>
          <a:p>
            <a:pPr indent="0" marL="0">
              <a:buNone/>
            </a:pPr>
            <a:r>
              <a:rPr lang="en-US" sz="1350" b="1" dirty="0">
                <a:solidFill>
                  <a:srgbClr val="222222"/>
                </a:solidFill>
                <a:latin typeface="Calibri" pitchFamily="34" charset="0"/>
                <a:ea typeface="Calibri" pitchFamily="34" charset="-122"/>
                <a:cs typeface="Calibri" pitchFamily="34" charset="-120"/>
              </a:rPr>
              <a:t>Group-DRO</a:t>
            </a:r>
            <a:endParaRPr lang="en-US" sz="1350" dirty="0"/>
          </a:p>
        </p:txBody>
      </p:sp>
      <p:sp>
        <p:nvSpPr>
          <p:cNvPr id="11" name="Text 9"/>
          <p:cNvSpPr/>
          <p:nvPr/>
        </p:nvSpPr>
        <p:spPr>
          <a:xfrm>
            <a:off x="1051560" y="2569464"/>
            <a:ext cx="4892040" cy="566928"/>
          </a:xfrm>
          <a:prstGeom prst="rect">
            <a:avLst/>
          </a:prstGeom>
          <a:noFill/>
          <a:ln/>
        </p:spPr>
        <p:txBody>
          <a:bodyPr wrap="square" lIns="0" tIns="0" rIns="0" bIns="0" rtlCol="0" anchor="ctr"/>
          <a:lstStyle/>
          <a:p>
            <a:pPr indent="0" marL="0">
              <a:lnSpc>
                <a:spcPts val="1400"/>
              </a:lnSpc>
              <a:buNone/>
            </a:pPr>
            <a:r>
              <a:rPr lang="en-US" sz="1150" dirty="0">
                <a:solidFill>
                  <a:srgbClr val="5A5A5A"/>
                </a:solidFill>
                <a:latin typeface="Calibri" pitchFamily="34" charset="0"/>
                <a:ea typeface="Calibri" pitchFamily="34" charset="-122"/>
                <a:cs typeface="Calibri" pitchFamily="34" charset="-120"/>
              </a:rPr>
              <a:t>Optimise for the worst-performing group. Tried three strength settings. Gap stayed at 41.</a:t>
            </a:r>
            <a:endParaRPr lang="en-US" sz="1150" dirty="0"/>
          </a:p>
        </p:txBody>
      </p:sp>
      <p:sp>
        <p:nvSpPr>
          <p:cNvPr id="12" name="Shape 10"/>
          <p:cNvSpPr/>
          <p:nvPr/>
        </p:nvSpPr>
        <p:spPr>
          <a:xfrm>
            <a:off x="548640" y="3246120"/>
            <a:ext cx="365760" cy="365760"/>
          </a:xfrm>
          <a:prstGeom prst="ellipse">
            <a:avLst/>
          </a:prstGeom>
          <a:solidFill>
            <a:srgbClr val="B9550F"/>
          </a:solidFill>
          <a:ln w="12700">
            <a:solidFill>
              <a:srgbClr val="B9550F"/>
            </a:solidFill>
            <a:prstDash val="solid"/>
          </a:ln>
        </p:spPr>
      </p:sp>
      <p:sp>
        <p:nvSpPr>
          <p:cNvPr id="13" name="Text 11"/>
          <p:cNvSpPr/>
          <p:nvPr/>
        </p:nvSpPr>
        <p:spPr>
          <a:xfrm>
            <a:off x="548640" y="3246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051560" y="3200400"/>
            <a:ext cx="4892040" cy="274320"/>
          </a:xfrm>
          <a:prstGeom prst="rect">
            <a:avLst/>
          </a:prstGeom>
          <a:noFill/>
          <a:ln/>
        </p:spPr>
        <p:txBody>
          <a:bodyPr wrap="square" lIns="0" tIns="0" rIns="0" bIns="0" rtlCol="0" anchor="ctr"/>
          <a:lstStyle/>
          <a:p>
            <a:pPr indent="0" marL="0">
              <a:buNone/>
            </a:pPr>
            <a:r>
              <a:rPr lang="en-US" sz="1350" b="1" dirty="0">
                <a:solidFill>
                  <a:srgbClr val="222222"/>
                </a:solidFill>
                <a:latin typeface="Calibri" pitchFamily="34" charset="0"/>
                <a:ea typeface="Calibri" pitchFamily="34" charset="-122"/>
                <a:cs typeface="Calibri" pitchFamily="34" charset="-120"/>
              </a:rPr>
              <a:t>Adaptive thresholds</a:t>
            </a:r>
            <a:endParaRPr lang="en-US" sz="1350" dirty="0"/>
          </a:p>
        </p:txBody>
      </p:sp>
      <p:sp>
        <p:nvSpPr>
          <p:cNvPr id="15" name="Text 13"/>
          <p:cNvSpPr/>
          <p:nvPr/>
        </p:nvSpPr>
        <p:spPr>
          <a:xfrm>
            <a:off x="1051560" y="3483864"/>
            <a:ext cx="4892040" cy="566928"/>
          </a:xfrm>
          <a:prstGeom prst="rect">
            <a:avLst/>
          </a:prstGeom>
          <a:noFill/>
          <a:ln/>
        </p:spPr>
        <p:txBody>
          <a:bodyPr wrap="square" lIns="0" tIns="0" rIns="0" bIns="0" rtlCol="0" anchor="ctr"/>
          <a:lstStyle/>
          <a:p>
            <a:pPr indent="0" marL="0">
              <a:lnSpc>
                <a:spcPts val="1400"/>
              </a:lnSpc>
              <a:buNone/>
            </a:pPr>
            <a:r>
              <a:rPr lang="en-US" sz="1150" dirty="0">
                <a:solidFill>
                  <a:srgbClr val="5A5A5A"/>
                </a:solidFill>
                <a:latin typeface="Calibri" pitchFamily="34" charset="0"/>
                <a:ea typeface="Calibri" pitchFamily="34" charset="-122"/>
                <a:cs typeface="Calibri" pitchFamily="34" charset="-120"/>
              </a:rPr>
              <a:t>A different decision cut-off per area and crime type. Improved to 41, then stopped.</a:t>
            </a:r>
            <a:endParaRPr lang="en-US" sz="1150" dirty="0"/>
          </a:p>
        </p:txBody>
      </p:sp>
      <p:sp>
        <p:nvSpPr>
          <p:cNvPr id="16" name="Shape 14"/>
          <p:cNvSpPr/>
          <p:nvPr/>
        </p:nvSpPr>
        <p:spPr>
          <a:xfrm>
            <a:off x="548640" y="4160520"/>
            <a:ext cx="365760" cy="365760"/>
          </a:xfrm>
          <a:prstGeom prst="ellipse">
            <a:avLst/>
          </a:prstGeom>
          <a:solidFill>
            <a:srgbClr val="C0392B"/>
          </a:solidFill>
          <a:ln w="12700">
            <a:solidFill>
              <a:srgbClr val="C0392B"/>
            </a:solidFill>
            <a:prstDash val="solid"/>
          </a:ln>
        </p:spPr>
      </p:sp>
      <p:sp>
        <p:nvSpPr>
          <p:cNvPr id="17" name="Text 15"/>
          <p:cNvSpPr/>
          <p:nvPr/>
        </p:nvSpPr>
        <p:spPr>
          <a:xfrm>
            <a:off x="548640" y="41605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051560" y="4114800"/>
            <a:ext cx="4892040" cy="274320"/>
          </a:xfrm>
          <a:prstGeom prst="rect">
            <a:avLst/>
          </a:prstGeom>
          <a:noFill/>
          <a:ln/>
        </p:spPr>
        <p:txBody>
          <a:bodyPr wrap="square" lIns="0" tIns="0" rIns="0" bIns="0" rtlCol="0" anchor="ctr"/>
          <a:lstStyle/>
          <a:p>
            <a:pPr indent="0" marL="0">
              <a:buNone/>
            </a:pPr>
            <a:r>
              <a:rPr lang="en-US" sz="1350" b="1" dirty="0">
                <a:solidFill>
                  <a:srgbClr val="222222"/>
                </a:solidFill>
                <a:latin typeface="Calibri" pitchFamily="34" charset="0"/>
                <a:ea typeface="Calibri" pitchFamily="34" charset="-122"/>
                <a:cs typeface="Calibri" pitchFamily="34" charset="-120"/>
              </a:rPr>
              <a:t>Add a graph (GNN)</a:t>
            </a:r>
            <a:endParaRPr lang="en-US" sz="1350" dirty="0"/>
          </a:p>
        </p:txBody>
      </p:sp>
      <p:sp>
        <p:nvSpPr>
          <p:cNvPr id="19" name="Text 17"/>
          <p:cNvSpPr/>
          <p:nvPr/>
        </p:nvSpPr>
        <p:spPr>
          <a:xfrm>
            <a:off x="1051560" y="4398264"/>
            <a:ext cx="4892040" cy="566928"/>
          </a:xfrm>
          <a:prstGeom prst="rect">
            <a:avLst/>
          </a:prstGeom>
          <a:noFill/>
          <a:ln/>
        </p:spPr>
        <p:txBody>
          <a:bodyPr wrap="square" lIns="0" tIns="0" rIns="0" bIns="0" rtlCol="0" anchor="ctr"/>
          <a:lstStyle/>
          <a:p>
            <a:pPr indent="0" marL="0">
              <a:lnSpc>
                <a:spcPts val="1400"/>
              </a:lnSpc>
              <a:buNone/>
            </a:pPr>
            <a:r>
              <a:rPr lang="en-US" sz="1150" dirty="0">
                <a:solidFill>
                  <a:srgbClr val="5A5A5A"/>
                </a:solidFill>
                <a:latin typeface="Calibri" pitchFamily="34" charset="0"/>
                <a:ea typeface="Calibri" pitchFamily="34" charset="-122"/>
                <a:cs typeface="Calibri" pitchFamily="34" charset="-120"/>
              </a:rPr>
              <a:t>Let neighbouring areas share information. 3 types × 4 depths × 2 cities.</a:t>
            </a:r>
            <a:endParaRPr lang="en-US" sz="1150" dirty="0"/>
          </a:p>
        </p:txBody>
      </p:sp>
      <p:sp>
        <p:nvSpPr>
          <p:cNvPr id="20" name="Shape 18"/>
          <p:cNvSpPr/>
          <p:nvPr/>
        </p:nvSpPr>
        <p:spPr>
          <a:xfrm>
            <a:off x="548640" y="5074920"/>
            <a:ext cx="365760" cy="365760"/>
          </a:xfrm>
          <a:prstGeom prst="ellipse">
            <a:avLst/>
          </a:prstGeom>
          <a:solidFill>
            <a:srgbClr val="C0392B"/>
          </a:solidFill>
          <a:ln w="12700">
            <a:solidFill>
              <a:srgbClr val="C0392B"/>
            </a:solidFill>
            <a:prstDash val="solid"/>
          </a:ln>
        </p:spPr>
      </p:sp>
      <p:sp>
        <p:nvSpPr>
          <p:cNvPr id="21" name="Text 19"/>
          <p:cNvSpPr/>
          <p:nvPr/>
        </p:nvSpPr>
        <p:spPr>
          <a:xfrm>
            <a:off x="548640" y="50749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p:nvPr/>
        </p:nvSpPr>
        <p:spPr>
          <a:xfrm>
            <a:off x="1051560" y="5029200"/>
            <a:ext cx="4892040" cy="274320"/>
          </a:xfrm>
          <a:prstGeom prst="rect">
            <a:avLst/>
          </a:prstGeom>
          <a:noFill/>
          <a:ln/>
        </p:spPr>
        <p:txBody>
          <a:bodyPr wrap="square" lIns="0" tIns="0" rIns="0" bIns="0" rtlCol="0" anchor="ctr"/>
          <a:lstStyle/>
          <a:p>
            <a:pPr indent="0" marL="0">
              <a:buNone/>
            </a:pPr>
            <a:r>
              <a:rPr lang="en-US" sz="1350" b="1" dirty="0">
                <a:solidFill>
                  <a:srgbClr val="222222"/>
                </a:solidFill>
                <a:latin typeface="Calibri" pitchFamily="34" charset="0"/>
                <a:ea typeface="Calibri" pitchFamily="34" charset="-122"/>
                <a:cs typeface="Calibri" pitchFamily="34" charset="-120"/>
              </a:rPr>
              <a:t>Gated + attention graphs</a:t>
            </a:r>
            <a:endParaRPr lang="en-US" sz="1350" dirty="0"/>
          </a:p>
        </p:txBody>
      </p:sp>
      <p:sp>
        <p:nvSpPr>
          <p:cNvPr id="23" name="Text 21"/>
          <p:cNvSpPr/>
          <p:nvPr/>
        </p:nvSpPr>
        <p:spPr>
          <a:xfrm>
            <a:off x="1051560" y="5312664"/>
            <a:ext cx="4892040" cy="566928"/>
          </a:xfrm>
          <a:prstGeom prst="rect">
            <a:avLst/>
          </a:prstGeom>
          <a:noFill/>
          <a:ln/>
        </p:spPr>
        <p:txBody>
          <a:bodyPr wrap="square" lIns="0" tIns="0" rIns="0" bIns="0" rtlCol="0" anchor="ctr"/>
          <a:lstStyle/>
          <a:p>
            <a:pPr indent="0" marL="0">
              <a:lnSpc>
                <a:spcPts val="1400"/>
              </a:lnSpc>
              <a:buNone/>
            </a:pPr>
            <a:r>
              <a:rPr lang="en-US" sz="1150" dirty="0">
                <a:solidFill>
                  <a:srgbClr val="5A5A5A"/>
                </a:solidFill>
                <a:latin typeface="Calibri" pitchFamily="34" charset="0"/>
                <a:ea typeface="Calibri" pitchFamily="34" charset="-122"/>
                <a:cs typeface="Calibri" pitchFamily="34" charset="-120"/>
              </a:rPr>
              <a:t>The versions designed to fix over-smoothing. Also negative.</a:t>
            </a:r>
            <a:endParaRPr lang="en-US" sz="1150" dirty="0"/>
          </a:p>
        </p:txBody>
      </p:sp>
      <p:sp>
        <p:nvSpPr>
          <p:cNvPr id="24" name="Text 22"/>
          <p:cNvSpPr/>
          <p:nvPr/>
        </p:nvSpPr>
        <p:spPr>
          <a:xfrm>
            <a:off x="6126480" y="4005072"/>
            <a:ext cx="5577840" cy="420624"/>
          </a:xfrm>
          <a:prstGeom prst="rect">
            <a:avLst/>
          </a:prstGeom>
          <a:noFill/>
          <a:ln/>
        </p:spPr>
        <p:txBody>
          <a:bodyPr wrap="square"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24 graph comparisons, each against an equal-sized model with no graph. 22 came out negative.</a:t>
            </a:r>
            <a:endParaRPr lang="en-US" sz="1200" dirty="0"/>
          </a:p>
        </p:txBody>
      </p:sp>
      <p:sp>
        <p:nvSpPr>
          <p:cNvPr id="25" name="Shape 23"/>
          <p:cNvSpPr/>
          <p:nvPr/>
        </p:nvSpPr>
        <p:spPr>
          <a:xfrm>
            <a:off x="6126480" y="4553712"/>
            <a:ext cx="1783080" cy="1005840"/>
          </a:xfrm>
          <a:prstGeom prst="roundRect">
            <a:avLst>
              <a:gd name="adj" fmla="val 6364"/>
            </a:avLst>
          </a:prstGeom>
          <a:solidFill>
            <a:srgbClr val="F4F6FA"/>
          </a:solidFill>
          <a:ln w="12700">
            <a:solidFill>
              <a:srgbClr val="F4F6FA"/>
            </a:solidFill>
            <a:prstDash val="solid"/>
          </a:ln>
        </p:spPr>
      </p:sp>
      <p:sp>
        <p:nvSpPr>
          <p:cNvPr id="26" name="Text 24"/>
          <p:cNvSpPr/>
          <p:nvPr/>
        </p:nvSpPr>
        <p:spPr>
          <a:xfrm>
            <a:off x="6126480" y="4636008"/>
            <a:ext cx="1783080" cy="530352"/>
          </a:xfrm>
          <a:prstGeom prst="rect">
            <a:avLst/>
          </a:prstGeom>
          <a:noFill/>
          <a:ln/>
        </p:spPr>
        <p:txBody>
          <a:bodyPr wrap="square" lIns="0" tIns="0" rIns="0" bIns="0" rtlCol="0" anchor="ctr"/>
          <a:lstStyle/>
          <a:p>
            <a:pPr algn="ctr" indent="0" marL="0">
              <a:buNone/>
            </a:pPr>
            <a:r>
              <a:rPr lang="en-US" sz="2700" b="1" dirty="0">
                <a:solidFill>
                  <a:srgbClr val="1E2761"/>
                </a:solidFill>
                <a:latin typeface="Calibri" pitchFamily="34" charset="0"/>
                <a:ea typeface="Calibri" pitchFamily="34" charset="-122"/>
                <a:cs typeface="Calibri" pitchFamily="34" charset="-120"/>
              </a:rPr>
              <a:t>24</a:t>
            </a:r>
            <a:endParaRPr lang="en-US" sz="2700" dirty="0"/>
          </a:p>
        </p:txBody>
      </p:sp>
      <p:sp>
        <p:nvSpPr>
          <p:cNvPr id="27" name="Text 25"/>
          <p:cNvSpPr/>
          <p:nvPr/>
        </p:nvSpPr>
        <p:spPr>
          <a:xfrm>
            <a:off x="6126480" y="5157216"/>
            <a:ext cx="178308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tests run</a:t>
            </a:r>
            <a:endParaRPr lang="en-US" sz="1150" dirty="0"/>
          </a:p>
        </p:txBody>
      </p:sp>
      <p:sp>
        <p:nvSpPr>
          <p:cNvPr id="28" name="Shape 26"/>
          <p:cNvSpPr/>
          <p:nvPr/>
        </p:nvSpPr>
        <p:spPr>
          <a:xfrm>
            <a:off x="8028432" y="4553712"/>
            <a:ext cx="1783080" cy="1005840"/>
          </a:xfrm>
          <a:prstGeom prst="roundRect">
            <a:avLst>
              <a:gd name="adj" fmla="val 6364"/>
            </a:avLst>
          </a:prstGeom>
          <a:solidFill>
            <a:srgbClr val="F4F6FA"/>
          </a:solidFill>
          <a:ln w="12700">
            <a:solidFill>
              <a:srgbClr val="F4F6FA"/>
            </a:solidFill>
            <a:prstDash val="solid"/>
          </a:ln>
        </p:spPr>
      </p:sp>
      <p:sp>
        <p:nvSpPr>
          <p:cNvPr id="29" name="Text 27"/>
          <p:cNvSpPr/>
          <p:nvPr/>
        </p:nvSpPr>
        <p:spPr>
          <a:xfrm>
            <a:off x="8028432" y="4636008"/>
            <a:ext cx="1783080" cy="530352"/>
          </a:xfrm>
          <a:prstGeom prst="rect">
            <a:avLst/>
          </a:prstGeom>
          <a:noFill/>
          <a:ln/>
        </p:spPr>
        <p:txBody>
          <a:bodyPr wrap="square" lIns="0" tIns="0" rIns="0" bIns="0" rtlCol="0" anchor="ctr"/>
          <a:lstStyle/>
          <a:p>
            <a:pPr algn="ctr" indent="0" marL="0">
              <a:buNone/>
            </a:pPr>
            <a:r>
              <a:rPr lang="en-US" sz="2700" b="1" dirty="0">
                <a:solidFill>
                  <a:srgbClr val="C0392B"/>
                </a:solidFill>
                <a:latin typeface="Calibri" pitchFamily="34" charset="0"/>
                <a:ea typeface="Calibri" pitchFamily="34" charset="-122"/>
                <a:cs typeface="Calibri" pitchFamily="34" charset="-120"/>
              </a:rPr>
              <a:t>22</a:t>
            </a:r>
            <a:endParaRPr lang="en-US" sz="2700" dirty="0"/>
          </a:p>
        </p:txBody>
      </p:sp>
      <p:sp>
        <p:nvSpPr>
          <p:cNvPr id="30" name="Text 28"/>
          <p:cNvSpPr/>
          <p:nvPr/>
        </p:nvSpPr>
        <p:spPr>
          <a:xfrm>
            <a:off x="8028432" y="5157216"/>
            <a:ext cx="178308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negative</a:t>
            </a:r>
            <a:endParaRPr lang="en-US" sz="1150" dirty="0"/>
          </a:p>
        </p:txBody>
      </p:sp>
      <p:sp>
        <p:nvSpPr>
          <p:cNvPr id="31" name="Shape 29"/>
          <p:cNvSpPr/>
          <p:nvPr/>
        </p:nvSpPr>
        <p:spPr>
          <a:xfrm>
            <a:off x="9930384" y="4553712"/>
            <a:ext cx="1773936" cy="1005840"/>
          </a:xfrm>
          <a:prstGeom prst="roundRect">
            <a:avLst>
              <a:gd name="adj" fmla="val 6364"/>
            </a:avLst>
          </a:prstGeom>
          <a:solidFill>
            <a:srgbClr val="F4F6FA"/>
          </a:solidFill>
          <a:ln w="12700">
            <a:solidFill>
              <a:srgbClr val="F4F6FA"/>
            </a:solidFill>
            <a:prstDash val="solid"/>
          </a:ln>
        </p:spPr>
      </p:sp>
      <p:sp>
        <p:nvSpPr>
          <p:cNvPr id="32" name="Text 30"/>
          <p:cNvSpPr/>
          <p:nvPr/>
        </p:nvSpPr>
        <p:spPr>
          <a:xfrm>
            <a:off x="9930384" y="4636008"/>
            <a:ext cx="1773936" cy="530352"/>
          </a:xfrm>
          <a:prstGeom prst="rect">
            <a:avLst/>
          </a:prstGeom>
          <a:noFill/>
          <a:ln/>
        </p:spPr>
        <p:txBody>
          <a:bodyPr wrap="square" lIns="0" tIns="0" rIns="0" bIns="0" rtlCol="0" anchor="ctr"/>
          <a:lstStyle/>
          <a:p>
            <a:pPr algn="ctr" indent="0" marL="0">
              <a:buNone/>
            </a:pPr>
            <a:r>
              <a:rPr lang="en-US" sz="2700" b="1" dirty="0">
                <a:solidFill>
                  <a:srgbClr val="C0392B"/>
                </a:solidFill>
                <a:latin typeface="Calibri" pitchFamily="34" charset="0"/>
                <a:ea typeface="Calibri" pitchFamily="34" charset="-122"/>
                <a:cs typeface="Calibri" pitchFamily="34" charset="-120"/>
              </a:rPr>
              <a:t>0</a:t>
            </a:r>
            <a:endParaRPr lang="en-US" sz="2700" dirty="0"/>
          </a:p>
        </p:txBody>
      </p:sp>
      <p:sp>
        <p:nvSpPr>
          <p:cNvPr id="33" name="Text 31"/>
          <p:cNvSpPr/>
          <p:nvPr/>
        </p:nvSpPr>
        <p:spPr>
          <a:xfrm>
            <a:off x="9930384" y="5157216"/>
            <a:ext cx="1773936"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worked</a:t>
            </a:r>
            <a:endParaRPr lang="en-US" sz="1150" dirty="0"/>
          </a:p>
        </p:txBody>
      </p:sp>
      <p:sp>
        <p:nvSpPr>
          <p:cNvPr id="34" name="Shape 32"/>
          <p:cNvSpPr/>
          <p:nvPr/>
        </p:nvSpPr>
        <p:spPr>
          <a:xfrm>
            <a:off x="6126480" y="5742432"/>
            <a:ext cx="5577840" cy="841248"/>
          </a:xfrm>
          <a:prstGeom prst="roundRect">
            <a:avLst>
              <a:gd name="adj" fmla="val 7609"/>
            </a:avLst>
          </a:prstGeom>
          <a:solidFill>
            <a:srgbClr val="FDF2F0"/>
          </a:solidFill>
          <a:ln w="12700">
            <a:solidFill>
              <a:srgbClr val="FDF2F0"/>
            </a:solidFill>
            <a:prstDash val="solid"/>
          </a:ln>
        </p:spPr>
      </p:sp>
      <p:sp>
        <p:nvSpPr>
          <p:cNvPr id="35" name="Text 33"/>
          <p:cNvSpPr/>
          <p:nvPr/>
        </p:nvSpPr>
        <p:spPr>
          <a:xfrm>
            <a:off x="6355080" y="5870448"/>
            <a:ext cx="5166360" cy="621792"/>
          </a:xfrm>
          <a:prstGeom prst="rect">
            <a:avLst/>
          </a:prstGeom>
          <a:noFill/>
          <a:ln/>
        </p:spPr>
        <p:txBody>
          <a:bodyPr wrap="square" lIns="0" tIns="0" rIns="0" bIns="0" rtlCol="0" anchor="ctr"/>
          <a:lstStyle/>
          <a:p>
            <a:pPr indent="0" marL="0">
              <a:lnSpc>
                <a:spcPts val="1700"/>
              </a:lnSpc>
              <a:buNone/>
            </a:pPr>
            <a:r>
              <a:rPr lang="en-US" sz="1300" b="1" dirty="0">
                <a:solidFill>
                  <a:srgbClr val="7B241C"/>
                </a:solidFill>
                <a:latin typeface="Calibri" pitchFamily="34" charset="0"/>
                <a:ea typeface="Calibri" pitchFamily="34" charset="-122"/>
                <a:cs typeface="Calibri" pitchFamily="34" charset="-120"/>
              </a:rPr>
              <a:t>Five reasonable methods all failing was the clue: the problem was not what we assumed it was.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74320"/>
            <a:ext cx="11064240" cy="640080"/>
          </a:xfrm>
          <a:prstGeom prst="rect">
            <a:avLst/>
          </a:prstGeom>
          <a:noFill/>
          <a:ln/>
        </p:spPr>
        <p:txBody>
          <a:bodyPr wrap="square"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Why nothing worked: the gap is largely not real</a:t>
            </a:r>
            <a:endParaRPr lang="en-US" sz="3300" dirty="0"/>
          </a:p>
        </p:txBody>
      </p:sp>
      <p:sp>
        <p:nvSpPr>
          <p:cNvPr id="3" name="Text 1"/>
          <p:cNvSpPr/>
          <p:nvPr/>
        </p:nvSpPr>
        <p:spPr>
          <a:xfrm>
            <a:off x="548640" y="905256"/>
            <a:ext cx="11064240" cy="365760"/>
          </a:xfrm>
          <a:prstGeom prst="rect">
            <a:avLst/>
          </a:prstGeom>
          <a:noFill/>
          <a:ln/>
        </p:spPr>
        <p:txBody>
          <a:bodyPr wrap="square" rtlCol="0" anchor="ctr"/>
          <a:lstStyle/>
          <a:p>
            <a:pPr indent="0" marL="0">
              <a:buNone/>
            </a:pPr>
            <a:r>
              <a:rPr lang="en-US" sz="1450" dirty="0">
                <a:solidFill>
                  <a:srgbClr val="5A5A5A"/>
                </a:solidFill>
                <a:latin typeface="Calibri" pitchFamily="34" charset="0"/>
                <a:ea typeface="Calibri" pitchFamily="34" charset="-122"/>
                <a:cs typeface="Calibri" pitchFamily="34" charset="-120"/>
              </a:rPr>
              <a:t>The F1 score gives free points where crime is common</a:t>
            </a:r>
            <a:endParaRPr lang="en-US" sz="1450" dirty="0"/>
          </a:p>
        </p:txBody>
      </p:sp>
      <p:pic>
        <p:nvPicPr>
          <p:cNvPr id="4" name="Image 0" descr="slides/s3_free.png">    </p:cNvPr>
          <p:cNvPicPr>
            <a:picLocks noChangeAspect="1"/>
          </p:cNvPicPr>
          <p:nvPr/>
        </p:nvPicPr>
        <p:blipFill>
          <a:blip r:embed="rId1"/>
          <a:stretch>
            <a:fillRect/>
          </a:stretch>
        </p:blipFill>
        <p:spPr>
          <a:xfrm>
            <a:off x="502920" y="1417320"/>
            <a:ext cx="5623560" cy="2898648"/>
          </a:xfrm>
          <a:prstGeom prst="rect">
            <a:avLst/>
          </a:prstGeom>
        </p:spPr>
      </p:pic>
      <p:sp>
        <p:nvSpPr>
          <p:cNvPr id="5" name="Shape 2"/>
          <p:cNvSpPr/>
          <p:nvPr/>
        </p:nvSpPr>
        <p:spPr>
          <a:xfrm>
            <a:off x="502920" y="4407408"/>
            <a:ext cx="5623560" cy="1188720"/>
          </a:xfrm>
          <a:prstGeom prst="roundRect">
            <a:avLst>
              <a:gd name="adj" fmla="val 5385"/>
            </a:avLst>
          </a:prstGeom>
          <a:solidFill>
            <a:srgbClr val="F4F6FA"/>
          </a:solidFill>
          <a:ln w="12700">
            <a:solidFill>
              <a:srgbClr val="F4F6FA"/>
            </a:solidFill>
            <a:prstDash val="solid"/>
          </a:ln>
        </p:spPr>
      </p:sp>
      <p:sp>
        <p:nvSpPr>
          <p:cNvPr id="6" name="Text 3"/>
          <p:cNvSpPr/>
          <p:nvPr/>
        </p:nvSpPr>
        <p:spPr>
          <a:xfrm>
            <a:off x="749808" y="4535424"/>
            <a:ext cx="5166360" cy="960120"/>
          </a:xfrm>
          <a:prstGeom prst="rect">
            <a:avLst/>
          </a:prstGeom>
          <a:noFill/>
          <a:ln/>
        </p:spPr>
        <p:txBody>
          <a:bodyPr wrap="square" lIns="0" tIns="0" rIns="0" bIns="0" rtlCol="0" anchor="ctr"/>
          <a:lstStyle/>
          <a:p>
            <a:pPr indent="0" marL="0">
              <a:lnSpc>
                <a:spcPts val="1600"/>
              </a:lnSpc>
              <a:buNone/>
            </a:pPr>
            <a:r>
              <a:rPr lang="en-US" sz="1250" dirty="0">
                <a:solidFill>
                  <a:srgbClr val="222222"/>
                </a:solidFill>
                <a:latin typeface="Calibri" pitchFamily="34" charset="0"/>
                <a:ea typeface="Calibri" pitchFamily="34" charset="-122"/>
                <a:cs typeface="Calibri" pitchFamily="34" charset="-120"/>
              </a:rPr>
              <a:t>A model with ZERO skill — one that just says "crime" every single day — scores 66.7 in a busy area and 9.5 in a quiet one. That is a 57-point "fairness gap" from a model that never looks at the data.</a:t>
            </a:r>
            <a:endParaRPr lang="en-US" sz="1250" dirty="0"/>
          </a:p>
        </p:txBody>
      </p:sp>
      <p:pic>
        <p:nvPicPr>
          <p:cNvPr id="7" name="Image 1" descr="slides/s3_lit.png">    </p:cNvPr>
          <p:cNvPicPr>
            <a:picLocks noChangeAspect="1"/>
          </p:cNvPicPr>
          <p:nvPr/>
        </p:nvPicPr>
        <p:blipFill>
          <a:blip r:embed="rId2"/>
          <a:stretch>
            <a:fillRect/>
          </a:stretch>
        </p:blipFill>
        <p:spPr>
          <a:xfrm>
            <a:off x="6355080" y="1417320"/>
            <a:ext cx="5349240" cy="2761488"/>
          </a:xfrm>
          <a:prstGeom prst="rect">
            <a:avLst/>
          </a:prstGeom>
        </p:spPr>
      </p:pic>
      <p:sp>
        <p:nvSpPr>
          <p:cNvPr id="8" name="Text 4"/>
          <p:cNvSpPr/>
          <p:nvPr/>
        </p:nvSpPr>
        <p:spPr>
          <a:xfrm>
            <a:off x="6355080" y="4224528"/>
            <a:ext cx="5349240" cy="420624"/>
          </a:xfrm>
          <a:prstGeom prst="rect">
            <a:avLst/>
          </a:prstGeom>
          <a:noFill/>
          <a:ln/>
        </p:spPr>
        <p:txBody>
          <a:bodyPr wrap="square"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6 published papers. Every line slopes upward — their scores track crime volume, not model quality.</a:t>
            </a:r>
            <a:endParaRPr lang="en-US" sz="1200" dirty="0"/>
          </a:p>
        </p:txBody>
      </p:sp>
      <p:sp>
        <p:nvSpPr>
          <p:cNvPr id="9" name="Shape 5"/>
          <p:cNvSpPr/>
          <p:nvPr/>
        </p:nvSpPr>
        <p:spPr>
          <a:xfrm>
            <a:off x="6355080" y="4718304"/>
            <a:ext cx="1691640" cy="1005840"/>
          </a:xfrm>
          <a:prstGeom prst="roundRect">
            <a:avLst>
              <a:gd name="adj" fmla="val 6364"/>
            </a:avLst>
          </a:prstGeom>
          <a:solidFill>
            <a:srgbClr val="F4F6FA"/>
          </a:solidFill>
          <a:ln w="12700">
            <a:solidFill>
              <a:srgbClr val="F4F6FA"/>
            </a:solidFill>
            <a:prstDash val="solid"/>
          </a:ln>
        </p:spPr>
      </p:sp>
      <p:sp>
        <p:nvSpPr>
          <p:cNvPr id="10" name="Text 6"/>
          <p:cNvSpPr/>
          <p:nvPr/>
        </p:nvSpPr>
        <p:spPr>
          <a:xfrm>
            <a:off x="6355080" y="4800600"/>
            <a:ext cx="1691640" cy="530352"/>
          </a:xfrm>
          <a:prstGeom prst="rect">
            <a:avLst/>
          </a:prstGeom>
          <a:noFill/>
          <a:ln/>
        </p:spPr>
        <p:txBody>
          <a:bodyPr wrap="square" lIns="0" tIns="0" rIns="0" bIns="0" rtlCol="0" anchor="ctr"/>
          <a:lstStyle/>
          <a:p>
            <a:pPr algn="ctr" indent="0" marL="0">
              <a:buNone/>
            </a:pPr>
            <a:r>
              <a:rPr lang="en-US" sz="2700" b="1" dirty="0">
                <a:solidFill>
                  <a:srgbClr val="1E2761"/>
                </a:solidFill>
                <a:latin typeface="Calibri" pitchFamily="34" charset="0"/>
                <a:ea typeface="Calibri" pitchFamily="34" charset="-122"/>
                <a:cs typeface="Calibri" pitchFamily="34" charset="-120"/>
              </a:rPr>
              <a:t>0.87</a:t>
            </a:r>
            <a:endParaRPr lang="en-US" sz="2700" dirty="0"/>
          </a:p>
        </p:txBody>
      </p:sp>
      <p:sp>
        <p:nvSpPr>
          <p:cNvPr id="11" name="Text 7"/>
          <p:cNvSpPr/>
          <p:nvPr/>
        </p:nvSpPr>
        <p:spPr>
          <a:xfrm>
            <a:off x="6355080" y="5321808"/>
            <a:ext cx="169164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correlation</a:t>
            </a:r>
            <a:endParaRPr lang="en-US" sz="1150" dirty="0"/>
          </a:p>
        </p:txBody>
      </p:sp>
      <p:sp>
        <p:nvSpPr>
          <p:cNvPr id="12" name="Shape 8"/>
          <p:cNvSpPr/>
          <p:nvPr/>
        </p:nvSpPr>
        <p:spPr>
          <a:xfrm>
            <a:off x="8183880" y="4718304"/>
            <a:ext cx="1691640" cy="1005840"/>
          </a:xfrm>
          <a:prstGeom prst="roundRect">
            <a:avLst>
              <a:gd name="adj" fmla="val 6364"/>
            </a:avLst>
          </a:prstGeom>
          <a:solidFill>
            <a:srgbClr val="F4F6FA"/>
          </a:solidFill>
          <a:ln w="12700">
            <a:solidFill>
              <a:srgbClr val="F4F6FA"/>
            </a:solidFill>
            <a:prstDash val="solid"/>
          </a:ln>
        </p:spPr>
      </p:sp>
      <p:sp>
        <p:nvSpPr>
          <p:cNvPr id="13" name="Text 9"/>
          <p:cNvSpPr/>
          <p:nvPr/>
        </p:nvSpPr>
        <p:spPr>
          <a:xfrm>
            <a:off x="8183880" y="4800600"/>
            <a:ext cx="1691640" cy="530352"/>
          </a:xfrm>
          <a:prstGeom prst="rect">
            <a:avLst/>
          </a:prstGeom>
          <a:noFill/>
          <a:ln/>
        </p:spPr>
        <p:txBody>
          <a:bodyPr wrap="square" lIns="0" tIns="0" rIns="0" bIns="0" rtlCol="0" anchor="ctr"/>
          <a:lstStyle/>
          <a:p>
            <a:pPr algn="ctr" indent="0" marL="0">
              <a:buNone/>
            </a:pPr>
            <a:r>
              <a:rPr lang="en-US" sz="2700" b="1" dirty="0">
                <a:solidFill>
                  <a:srgbClr val="1E2761"/>
                </a:solidFill>
                <a:latin typeface="Calibri" pitchFamily="34" charset="0"/>
                <a:ea typeface="Calibri" pitchFamily="34" charset="-122"/>
                <a:cs typeface="Calibri" pitchFamily="34" charset="-120"/>
              </a:rPr>
              <a:t>4 cities</a:t>
            </a:r>
            <a:endParaRPr lang="en-US" sz="2700" dirty="0"/>
          </a:p>
        </p:txBody>
      </p:sp>
      <p:sp>
        <p:nvSpPr>
          <p:cNvPr id="14" name="Text 10"/>
          <p:cNvSpPr/>
          <p:nvPr/>
        </p:nvSpPr>
        <p:spPr>
          <a:xfrm>
            <a:off x="8183880" y="5321808"/>
            <a:ext cx="169164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same pattern</a:t>
            </a:r>
            <a:endParaRPr lang="en-US" sz="1150" dirty="0"/>
          </a:p>
        </p:txBody>
      </p:sp>
      <p:sp>
        <p:nvSpPr>
          <p:cNvPr id="15" name="Shape 11"/>
          <p:cNvSpPr/>
          <p:nvPr/>
        </p:nvSpPr>
        <p:spPr>
          <a:xfrm>
            <a:off x="10012680" y="4718304"/>
            <a:ext cx="1691640" cy="1005840"/>
          </a:xfrm>
          <a:prstGeom prst="roundRect">
            <a:avLst>
              <a:gd name="adj" fmla="val 6364"/>
            </a:avLst>
          </a:prstGeom>
          <a:solidFill>
            <a:srgbClr val="F4F6FA"/>
          </a:solidFill>
          <a:ln w="12700">
            <a:solidFill>
              <a:srgbClr val="F4F6FA"/>
            </a:solidFill>
            <a:prstDash val="solid"/>
          </a:ln>
        </p:spPr>
      </p:sp>
      <p:sp>
        <p:nvSpPr>
          <p:cNvPr id="16" name="Text 12"/>
          <p:cNvSpPr/>
          <p:nvPr/>
        </p:nvSpPr>
        <p:spPr>
          <a:xfrm>
            <a:off x="10012680" y="4800600"/>
            <a:ext cx="1691640" cy="530352"/>
          </a:xfrm>
          <a:prstGeom prst="rect">
            <a:avLst/>
          </a:prstGeom>
          <a:noFill/>
          <a:ln/>
        </p:spPr>
        <p:txBody>
          <a:bodyPr wrap="square" lIns="0" tIns="0" rIns="0" bIns="0" rtlCol="0" anchor="ctr"/>
          <a:lstStyle/>
          <a:p>
            <a:pPr algn="ctr" indent="0" marL="0">
              <a:buNone/>
            </a:pPr>
            <a:r>
              <a:rPr lang="en-US" sz="2700" b="1" dirty="0">
                <a:solidFill>
                  <a:srgbClr val="1E8449"/>
                </a:solidFill>
                <a:latin typeface="Calibri" pitchFamily="34" charset="0"/>
                <a:ea typeface="Calibri" pitchFamily="34" charset="-122"/>
                <a:cs typeface="Calibri" pitchFamily="34" charset="-120"/>
              </a:rPr>
              <a:t>1.3e-5</a:t>
            </a:r>
            <a:endParaRPr lang="en-US" sz="2700" dirty="0"/>
          </a:p>
        </p:txBody>
      </p:sp>
      <p:sp>
        <p:nvSpPr>
          <p:cNvPr id="17" name="Text 13"/>
          <p:cNvSpPr/>
          <p:nvPr/>
        </p:nvSpPr>
        <p:spPr>
          <a:xfrm>
            <a:off x="10012680" y="5321808"/>
            <a:ext cx="169164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p-value</a:t>
            </a:r>
            <a:endParaRPr lang="en-US" sz="1150" dirty="0"/>
          </a:p>
        </p:txBody>
      </p:sp>
      <p:sp>
        <p:nvSpPr>
          <p:cNvPr id="18" name="Shape 14"/>
          <p:cNvSpPr/>
          <p:nvPr/>
        </p:nvSpPr>
        <p:spPr>
          <a:xfrm>
            <a:off x="6355080" y="5870448"/>
            <a:ext cx="5349240" cy="731520"/>
          </a:xfrm>
          <a:prstGeom prst="roundRect">
            <a:avLst>
              <a:gd name="adj" fmla="val 8750"/>
            </a:avLst>
          </a:prstGeom>
          <a:solidFill>
            <a:srgbClr val="EAF3EC"/>
          </a:solidFill>
          <a:ln w="12700">
            <a:solidFill>
              <a:srgbClr val="EAF3EC"/>
            </a:solidFill>
            <a:prstDash val="solid"/>
          </a:ln>
        </p:spPr>
      </p:sp>
      <p:sp>
        <p:nvSpPr>
          <p:cNvPr id="19" name="Text 15"/>
          <p:cNvSpPr/>
          <p:nvPr/>
        </p:nvSpPr>
        <p:spPr>
          <a:xfrm>
            <a:off x="6583680" y="5980176"/>
            <a:ext cx="4937760" cy="548640"/>
          </a:xfrm>
          <a:prstGeom prst="rect">
            <a:avLst/>
          </a:prstGeom>
          <a:noFill/>
          <a:ln/>
        </p:spPr>
        <p:txBody>
          <a:bodyPr wrap="square" lIns="0" tIns="0" rIns="0" bIns="0" rtlCol="0" anchor="ctr"/>
          <a:lstStyle/>
          <a:p>
            <a:pPr indent="0" marL="0">
              <a:lnSpc>
                <a:spcPts val="1500"/>
              </a:lnSpc>
              <a:buNone/>
            </a:pPr>
            <a:r>
              <a:rPr lang="en-US" sz="1200" dirty="0">
                <a:solidFill>
                  <a:srgbClr val="145A32"/>
                </a:solidFill>
                <a:latin typeface="Calibri" pitchFamily="34" charset="0"/>
                <a:ea typeface="Calibri" pitchFamily="34" charset="-122"/>
                <a:cs typeface="Calibri" pitchFamily="34" charset="-120"/>
              </a:rPr>
              <a:t>This part of the maths is known (Davis 2006, Chouldechova 2017). We cite it — we do not claim it.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74320"/>
            <a:ext cx="11064240" cy="640080"/>
          </a:xfrm>
          <a:prstGeom prst="rect">
            <a:avLst/>
          </a:prstGeom>
          <a:noFill/>
          <a:ln/>
        </p:spPr>
        <p:txBody>
          <a:bodyPr wrap="square"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What we found that is new</a:t>
            </a:r>
            <a:endParaRPr lang="en-US" sz="3300" dirty="0"/>
          </a:p>
        </p:txBody>
      </p:sp>
      <p:sp>
        <p:nvSpPr>
          <p:cNvPr id="3" name="Text 1"/>
          <p:cNvSpPr/>
          <p:nvPr/>
        </p:nvSpPr>
        <p:spPr>
          <a:xfrm>
            <a:off x="548640" y="905256"/>
            <a:ext cx="11064240" cy="365760"/>
          </a:xfrm>
          <a:prstGeom prst="rect">
            <a:avLst/>
          </a:prstGeom>
          <a:noFill/>
          <a:ln/>
        </p:spPr>
        <p:txBody>
          <a:bodyPr wrap="square" rtlCol="0" anchor="ctr"/>
          <a:lstStyle/>
          <a:p>
            <a:pPr indent="0" marL="0">
              <a:buNone/>
            </a:pPr>
            <a:r>
              <a:rPr lang="en-US" sz="1450" dirty="0">
                <a:solidFill>
                  <a:srgbClr val="5A5A5A"/>
                </a:solidFill>
                <a:latin typeface="Calibri" pitchFamily="34" charset="0"/>
                <a:ea typeface="Calibri" pitchFamily="34" charset="-122"/>
                <a:cs typeface="Calibri" pitchFamily="34" charset="-120"/>
              </a:rPr>
              <a:t>Correcting for the free points is NOT enough — a model can still fake a fairness win</a:t>
            </a:r>
            <a:endParaRPr lang="en-US" sz="1450" dirty="0"/>
          </a:p>
        </p:txBody>
      </p:sp>
      <p:pic>
        <p:nvPicPr>
          <p:cNvPr id="4" name="Image 0" descr="slides/s3_finding.png">    </p:cNvPr>
          <p:cNvPicPr>
            <a:picLocks noChangeAspect="1"/>
          </p:cNvPicPr>
          <p:nvPr/>
        </p:nvPicPr>
        <p:blipFill>
          <a:blip r:embed="rId1"/>
          <a:stretch>
            <a:fillRect/>
          </a:stretch>
        </p:blipFill>
        <p:spPr>
          <a:xfrm>
            <a:off x="457200" y="1371600"/>
            <a:ext cx="5577840" cy="2825496"/>
          </a:xfrm>
          <a:prstGeom prst="rect">
            <a:avLst/>
          </a:prstGeom>
        </p:spPr>
      </p:pic>
      <p:sp>
        <p:nvSpPr>
          <p:cNvPr id="5" name="Text 2"/>
          <p:cNvSpPr/>
          <p:nvPr/>
        </p:nvSpPr>
        <p:spPr>
          <a:xfrm>
            <a:off x="457200" y="4242816"/>
            <a:ext cx="5577840" cy="457200"/>
          </a:xfrm>
          <a:prstGeom prst="rect">
            <a:avLst/>
          </a:prstGeom>
          <a:noFill/>
          <a:ln/>
        </p:spPr>
        <p:txBody>
          <a:bodyPr wrap="square"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Chicago. The graph model looks 12.87 better on the usual score — but AUC, which cannot be fooled, is 3.05 WORSE.</a:t>
            </a:r>
            <a:endParaRPr lang="en-US" sz="1200" dirty="0"/>
          </a:p>
        </p:txBody>
      </p:sp>
      <p:pic>
        <p:nvPicPr>
          <p:cNvPr id="6" name="Image 1" descr="slides/s3_threshold.png">    </p:cNvPr>
          <p:cNvPicPr>
            <a:picLocks noChangeAspect="1"/>
          </p:cNvPicPr>
          <p:nvPr/>
        </p:nvPicPr>
        <p:blipFill>
          <a:blip r:embed="rId2"/>
          <a:stretch>
            <a:fillRect/>
          </a:stretch>
        </p:blipFill>
        <p:spPr>
          <a:xfrm>
            <a:off x="6263640" y="1371600"/>
            <a:ext cx="5440680" cy="2761488"/>
          </a:xfrm>
          <a:prstGeom prst="rect">
            <a:avLst/>
          </a:prstGeom>
        </p:spPr>
      </p:pic>
      <p:sp>
        <p:nvSpPr>
          <p:cNvPr id="7" name="Text 3"/>
          <p:cNvSpPr/>
          <p:nvPr/>
        </p:nvSpPr>
        <p:spPr>
          <a:xfrm>
            <a:off x="6263640" y="4187952"/>
            <a:ext cx="5440680" cy="457200"/>
          </a:xfrm>
          <a:prstGeom prst="rect">
            <a:avLst/>
          </a:prstGeom>
          <a:noFill/>
          <a:ln/>
        </p:spPr>
        <p:txBody>
          <a:bodyPr wrap="square"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Then with NO graph at all — moving one setting — we beat it, with AUC identical at 61.99 on every row.</a:t>
            </a:r>
            <a:endParaRPr lang="en-US" sz="1200" dirty="0"/>
          </a:p>
        </p:txBody>
      </p:sp>
      <p:sp>
        <p:nvSpPr>
          <p:cNvPr id="8" name="Shape 4"/>
          <p:cNvSpPr/>
          <p:nvPr/>
        </p:nvSpPr>
        <p:spPr>
          <a:xfrm>
            <a:off x="457200" y="4773168"/>
            <a:ext cx="2651760" cy="1005840"/>
          </a:xfrm>
          <a:prstGeom prst="roundRect">
            <a:avLst>
              <a:gd name="adj" fmla="val 6364"/>
            </a:avLst>
          </a:prstGeom>
          <a:solidFill>
            <a:srgbClr val="F4F6FA"/>
          </a:solidFill>
          <a:ln w="12700">
            <a:solidFill>
              <a:srgbClr val="F4F6FA"/>
            </a:solidFill>
            <a:prstDash val="solid"/>
          </a:ln>
        </p:spPr>
      </p:sp>
      <p:sp>
        <p:nvSpPr>
          <p:cNvPr id="9" name="Text 5"/>
          <p:cNvSpPr/>
          <p:nvPr/>
        </p:nvSpPr>
        <p:spPr>
          <a:xfrm>
            <a:off x="457200" y="4855464"/>
            <a:ext cx="2651760" cy="530352"/>
          </a:xfrm>
          <a:prstGeom prst="rect">
            <a:avLst/>
          </a:prstGeom>
          <a:noFill/>
          <a:ln/>
        </p:spPr>
        <p:txBody>
          <a:bodyPr wrap="square" lIns="0" tIns="0" rIns="0" bIns="0" rtlCol="0" anchor="ctr"/>
          <a:lstStyle/>
          <a:p>
            <a:pPr algn="ctr" indent="0" marL="0">
              <a:buNone/>
            </a:pPr>
            <a:r>
              <a:rPr lang="en-US" sz="2700" b="1" dirty="0">
                <a:solidFill>
                  <a:srgbClr val="1E2761"/>
                </a:solidFill>
                <a:latin typeface="Calibri" pitchFamily="34" charset="0"/>
                <a:ea typeface="Calibri" pitchFamily="34" charset="-122"/>
                <a:cs typeface="Calibri" pitchFamily="34" charset="-120"/>
              </a:rPr>
              <a:t>+12.87</a:t>
            </a:r>
            <a:endParaRPr lang="en-US" sz="2700" dirty="0"/>
          </a:p>
        </p:txBody>
      </p:sp>
      <p:sp>
        <p:nvSpPr>
          <p:cNvPr id="10" name="Text 6"/>
          <p:cNvSpPr/>
          <p:nvPr/>
        </p:nvSpPr>
        <p:spPr>
          <a:xfrm>
            <a:off x="457200" y="5376672"/>
            <a:ext cx="265176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the graph model gave</a:t>
            </a:r>
            <a:endParaRPr lang="en-US" sz="1150" dirty="0"/>
          </a:p>
        </p:txBody>
      </p:sp>
      <p:sp>
        <p:nvSpPr>
          <p:cNvPr id="11" name="Shape 7"/>
          <p:cNvSpPr/>
          <p:nvPr/>
        </p:nvSpPr>
        <p:spPr>
          <a:xfrm>
            <a:off x="3291840" y="4773168"/>
            <a:ext cx="2651760" cy="1005840"/>
          </a:xfrm>
          <a:prstGeom prst="roundRect">
            <a:avLst>
              <a:gd name="adj" fmla="val 6364"/>
            </a:avLst>
          </a:prstGeom>
          <a:solidFill>
            <a:srgbClr val="F4F6FA"/>
          </a:solidFill>
          <a:ln w="12700">
            <a:solidFill>
              <a:srgbClr val="F4F6FA"/>
            </a:solidFill>
            <a:prstDash val="solid"/>
          </a:ln>
        </p:spPr>
      </p:sp>
      <p:sp>
        <p:nvSpPr>
          <p:cNvPr id="12" name="Text 8"/>
          <p:cNvSpPr/>
          <p:nvPr/>
        </p:nvSpPr>
        <p:spPr>
          <a:xfrm>
            <a:off x="3291840" y="4855464"/>
            <a:ext cx="2651760" cy="530352"/>
          </a:xfrm>
          <a:prstGeom prst="rect">
            <a:avLst/>
          </a:prstGeom>
          <a:noFill/>
          <a:ln/>
        </p:spPr>
        <p:txBody>
          <a:bodyPr wrap="square" lIns="0" tIns="0" rIns="0" bIns="0" rtlCol="0" anchor="ctr"/>
          <a:lstStyle/>
          <a:p>
            <a:pPr algn="ctr" indent="0" marL="0">
              <a:buNone/>
            </a:pPr>
            <a:r>
              <a:rPr lang="en-US" sz="2700" b="1" dirty="0">
                <a:solidFill>
                  <a:srgbClr val="B9550F"/>
                </a:solidFill>
                <a:latin typeface="Calibri" pitchFamily="34" charset="0"/>
                <a:ea typeface="Calibri" pitchFamily="34" charset="-122"/>
                <a:cs typeface="Calibri" pitchFamily="34" charset="-120"/>
              </a:rPr>
              <a:t>+13.63</a:t>
            </a:r>
            <a:endParaRPr lang="en-US" sz="2700" dirty="0"/>
          </a:p>
        </p:txBody>
      </p:sp>
      <p:sp>
        <p:nvSpPr>
          <p:cNvPr id="13" name="Text 9"/>
          <p:cNvSpPr/>
          <p:nvPr/>
        </p:nvSpPr>
        <p:spPr>
          <a:xfrm>
            <a:off x="3291840" y="5376672"/>
            <a:ext cx="265176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ONE setting gave</a:t>
            </a:r>
            <a:endParaRPr lang="en-US" sz="1150" dirty="0"/>
          </a:p>
        </p:txBody>
      </p:sp>
      <p:sp>
        <p:nvSpPr>
          <p:cNvPr id="14" name="Shape 10"/>
          <p:cNvSpPr/>
          <p:nvPr/>
        </p:nvSpPr>
        <p:spPr>
          <a:xfrm>
            <a:off x="6263640" y="4773168"/>
            <a:ext cx="2606040" cy="1005840"/>
          </a:xfrm>
          <a:prstGeom prst="roundRect">
            <a:avLst>
              <a:gd name="adj" fmla="val 6364"/>
            </a:avLst>
          </a:prstGeom>
          <a:solidFill>
            <a:srgbClr val="F4F6FA"/>
          </a:solidFill>
          <a:ln w="12700">
            <a:solidFill>
              <a:srgbClr val="F4F6FA"/>
            </a:solidFill>
            <a:prstDash val="solid"/>
          </a:ln>
        </p:spPr>
      </p:sp>
      <p:sp>
        <p:nvSpPr>
          <p:cNvPr id="15" name="Text 11"/>
          <p:cNvSpPr/>
          <p:nvPr/>
        </p:nvSpPr>
        <p:spPr>
          <a:xfrm>
            <a:off x="6263640" y="4855464"/>
            <a:ext cx="2606040" cy="530352"/>
          </a:xfrm>
          <a:prstGeom prst="rect">
            <a:avLst/>
          </a:prstGeom>
          <a:noFill/>
          <a:ln/>
        </p:spPr>
        <p:txBody>
          <a:bodyPr wrap="square" lIns="0" tIns="0" rIns="0" bIns="0" rtlCol="0" anchor="ctr"/>
          <a:lstStyle/>
          <a:p>
            <a:pPr algn="ctr" indent="0" marL="0">
              <a:buNone/>
            </a:pPr>
            <a:r>
              <a:rPr lang="en-US" sz="2700" b="1" dirty="0">
                <a:solidFill>
                  <a:srgbClr val="1E8449"/>
                </a:solidFill>
                <a:latin typeface="Calibri" pitchFamily="34" charset="0"/>
                <a:ea typeface="Calibri" pitchFamily="34" charset="-122"/>
                <a:cs typeface="Calibri" pitchFamily="34" charset="-120"/>
              </a:rPr>
              <a:t>61.99</a:t>
            </a:r>
            <a:endParaRPr lang="en-US" sz="2700" dirty="0"/>
          </a:p>
        </p:txBody>
      </p:sp>
      <p:sp>
        <p:nvSpPr>
          <p:cNvPr id="16" name="Text 12"/>
          <p:cNvSpPr/>
          <p:nvPr/>
        </p:nvSpPr>
        <p:spPr>
          <a:xfrm>
            <a:off x="6263640" y="5376672"/>
            <a:ext cx="260604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AUC — identical</a:t>
            </a:r>
            <a:endParaRPr lang="en-US" sz="1150" dirty="0"/>
          </a:p>
        </p:txBody>
      </p:sp>
      <p:sp>
        <p:nvSpPr>
          <p:cNvPr id="17" name="Shape 13"/>
          <p:cNvSpPr/>
          <p:nvPr/>
        </p:nvSpPr>
        <p:spPr>
          <a:xfrm>
            <a:off x="9070848" y="4773168"/>
            <a:ext cx="2633472" cy="1005840"/>
          </a:xfrm>
          <a:prstGeom prst="roundRect">
            <a:avLst>
              <a:gd name="adj" fmla="val 6364"/>
            </a:avLst>
          </a:prstGeom>
          <a:solidFill>
            <a:srgbClr val="F4F6FA"/>
          </a:solidFill>
          <a:ln w="12700">
            <a:solidFill>
              <a:srgbClr val="F4F6FA"/>
            </a:solidFill>
            <a:prstDash val="solid"/>
          </a:ln>
        </p:spPr>
      </p:sp>
      <p:sp>
        <p:nvSpPr>
          <p:cNvPr id="18" name="Text 14"/>
          <p:cNvSpPr/>
          <p:nvPr/>
        </p:nvSpPr>
        <p:spPr>
          <a:xfrm>
            <a:off x="9070848" y="4855464"/>
            <a:ext cx="2633472" cy="530352"/>
          </a:xfrm>
          <a:prstGeom prst="rect">
            <a:avLst/>
          </a:prstGeom>
          <a:noFill/>
          <a:ln/>
        </p:spPr>
        <p:txBody>
          <a:bodyPr wrap="square" lIns="0" tIns="0" rIns="0" bIns="0" rtlCol="0" anchor="ctr"/>
          <a:lstStyle/>
          <a:p>
            <a:pPr algn="ctr" indent="0" marL="0">
              <a:buNone/>
            </a:pPr>
            <a:r>
              <a:rPr lang="en-US" sz="2700" b="1" dirty="0">
                <a:solidFill>
                  <a:srgbClr val="C0392B"/>
                </a:solidFill>
                <a:latin typeface="Calibri" pitchFamily="34" charset="0"/>
                <a:ea typeface="Calibri" pitchFamily="34" charset="-122"/>
                <a:cs typeface="Calibri" pitchFamily="34" charset="-120"/>
              </a:rPr>
              <a:t>23% → 80%</a:t>
            </a:r>
            <a:endParaRPr lang="en-US" sz="2700" dirty="0"/>
          </a:p>
        </p:txBody>
      </p:sp>
      <p:sp>
        <p:nvSpPr>
          <p:cNvPr id="19" name="Text 15"/>
          <p:cNvSpPr/>
          <p:nvPr/>
        </p:nvSpPr>
        <p:spPr>
          <a:xfrm>
            <a:off x="9070848" y="5376672"/>
            <a:ext cx="2633472"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how often it cries "crime"</a:t>
            </a:r>
            <a:endParaRPr lang="en-US" sz="1150" dirty="0"/>
          </a:p>
        </p:txBody>
      </p:sp>
      <p:sp>
        <p:nvSpPr>
          <p:cNvPr id="20" name="Shape 16"/>
          <p:cNvSpPr/>
          <p:nvPr/>
        </p:nvSpPr>
        <p:spPr>
          <a:xfrm>
            <a:off x="457200" y="5961888"/>
            <a:ext cx="11247120" cy="658368"/>
          </a:xfrm>
          <a:prstGeom prst="roundRect">
            <a:avLst>
              <a:gd name="adj" fmla="val 9722"/>
            </a:avLst>
          </a:prstGeom>
          <a:solidFill>
            <a:srgbClr val="FDF2F0"/>
          </a:solidFill>
          <a:ln w="12700">
            <a:solidFill>
              <a:srgbClr val="FDF2F0"/>
            </a:solidFill>
            <a:prstDash val="solid"/>
          </a:ln>
        </p:spPr>
      </p:sp>
      <p:sp>
        <p:nvSpPr>
          <p:cNvPr id="21" name="Text 17"/>
          <p:cNvSpPr/>
          <p:nvPr/>
        </p:nvSpPr>
        <p:spPr>
          <a:xfrm>
            <a:off x="731520" y="6053328"/>
            <a:ext cx="10789920" cy="502920"/>
          </a:xfrm>
          <a:prstGeom prst="rect">
            <a:avLst/>
          </a:prstGeom>
          <a:noFill/>
          <a:ln/>
        </p:spPr>
        <p:txBody>
          <a:bodyPr wrap="square" lIns="0" tIns="0" rIns="0" bIns="0" rtlCol="0" anchor="ctr"/>
          <a:lstStyle/>
          <a:p>
            <a:pPr indent="0" marL="0">
              <a:buNone/>
            </a:pPr>
            <a:r>
              <a:rPr lang="en-US" sz="1300" b="1" dirty="0">
                <a:solidFill>
                  <a:srgbClr val="7B241C"/>
                </a:solidFill>
                <a:latin typeface="Calibri" pitchFamily="34" charset="0"/>
                <a:ea typeface="Calibri" pitchFamily="34" charset="-122"/>
                <a:cs typeface="Calibri" pitchFamily="34" charset="-120"/>
              </a:rPr>
              <a:t>The model did not get better at finding crime. It started labelling 8 out of 10 poor neighbourhoods as high-crime — and the usual fairness score rewarded that.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74320"/>
            <a:ext cx="11064240" cy="640080"/>
          </a:xfrm>
          <a:prstGeom prst="rect">
            <a:avLst/>
          </a:prstGeom>
          <a:noFill/>
          <a:ln/>
        </p:spPr>
        <p:txBody>
          <a:bodyPr wrap="square"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What is new, and where we can publish it</a:t>
            </a:r>
            <a:endParaRPr lang="en-US" sz="3300" dirty="0"/>
          </a:p>
        </p:txBody>
      </p:sp>
      <p:sp>
        <p:nvSpPr>
          <p:cNvPr id="3" name="Text 1"/>
          <p:cNvSpPr/>
          <p:nvPr/>
        </p:nvSpPr>
        <p:spPr>
          <a:xfrm>
            <a:off x="548640" y="1316736"/>
            <a:ext cx="5486400" cy="256032"/>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OUR THREE CONTRIBUTIONS</a:t>
            </a:r>
            <a:endParaRPr lang="en-US" sz="1150" dirty="0"/>
          </a:p>
        </p:txBody>
      </p:sp>
      <p:sp>
        <p:nvSpPr>
          <p:cNvPr id="4" name="Shape 2"/>
          <p:cNvSpPr/>
          <p:nvPr/>
        </p:nvSpPr>
        <p:spPr>
          <a:xfrm>
            <a:off x="548640" y="1627632"/>
            <a:ext cx="365760" cy="365760"/>
          </a:xfrm>
          <a:prstGeom prst="ellipse">
            <a:avLst/>
          </a:prstGeom>
          <a:solidFill>
            <a:srgbClr val="1E2761"/>
          </a:solidFill>
          <a:ln w="12700">
            <a:solidFill>
              <a:srgbClr val="1E2761"/>
            </a:solidFill>
            <a:prstDash val="solid"/>
          </a:ln>
        </p:spPr>
      </p:sp>
      <p:sp>
        <p:nvSpPr>
          <p:cNvPr id="5" name="Text 3"/>
          <p:cNvSpPr/>
          <p:nvPr/>
        </p:nvSpPr>
        <p:spPr>
          <a:xfrm>
            <a:off x="54864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051560" y="1581912"/>
            <a:ext cx="4892040" cy="274320"/>
          </a:xfrm>
          <a:prstGeom prst="rect">
            <a:avLst/>
          </a:prstGeom>
          <a:noFill/>
          <a:ln/>
        </p:spPr>
        <p:txBody>
          <a:bodyPr wrap="square" lIns="0" tIns="0" rIns="0" bIns="0" rtlCol="0" anchor="ctr"/>
          <a:lstStyle/>
          <a:p>
            <a:pPr indent="0" marL="0">
              <a:buNone/>
            </a:pPr>
            <a:r>
              <a:rPr lang="en-US" sz="1350" b="1" dirty="0">
                <a:solidFill>
                  <a:srgbClr val="222222"/>
                </a:solidFill>
                <a:latin typeface="Calibri" pitchFamily="34" charset="0"/>
                <a:ea typeface="Calibri" pitchFamily="34" charset="-122"/>
                <a:cs typeface="Calibri" pitchFamily="34" charset="-120"/>
              </a:rPr>
              <a:t>Correcting for base rates is NOT enough</a:t>
            </a:r>
            <a:endParaRPr lang="en-US" sz="1350" dirty="0"/>
          </a:p>
        </p:txBody>
      </p:sp>
      <p:sp>
        <p:nvSpPr>
          <p:cNvPr id="7" name="Text 5"/>
          <p:cNvSpPr/>
          <p:nvPr/>
        </p:nvSpPr>
        <p:spPr>
          <a:xfrm>
            <a:off x="1051560" y="1865376"/>
            <a:ext cx="4892040" cy="566928"/>
          </a:xfrm>
          <a:prstGeom prst="rect">
            <a:avLst/>
          </a:prstGeom>
          <a:noFill/>
          <a:ln/>
        </p:spPr>
        <p:txBody>
          <a:bodyPr wrap="square" lIns="0" tIns="0" rIns="0" bIns="0" rtlCol="0" anchor="ctr"/>
          <a:lstStyle/>
          <a:p>
            <a:pPr indent="0" marL="0">
              <a:lnSpc>
                <a:spcPts val="1400"/>
              </a:lnSpc>
              <a:buNone/>
            </a:pPr>
            <a:r>
              <a:rPr lang="en-US" sz="1150" dirty="0">
                <a:solidFill>
                  <a:srgbClr val="5A5A5A"/>
                </a:solidFill>
                <a:latin typeface="Calibri" pitchFamily="34" charset="0"/>
                <a:ea typeface="Calibri" pitchFamily="34" charset="-122"/>
                <a:cs typeface="Calibri" pitchFamily="34" charset="-120"/>
              </a:rPr>
              <a:t>A model can fake a fairness win by guessing more often. Our own correction was fooled — only AUC caught it.</a:t>
            </a:r>
            <a:endParaRPr lang="en-US" sz="1150" dirty="0"/>
          </a:p>
        </p:txBody>
      </p:sp>
      <p:sp>
        <p:nvSpPr>
          <p:cNvPr id="8" name="Shape 6"/>
          <p:cNvSpPr/>
          <p:nvPr/>
        </p:nvSpPr>
        <p:spPr>
          <a:xfrm>
            <a:off x="548640" y="2670048"/>
            <a:ext cx="365760" cy="365760"/>
          </a:xfrm>
          <a:prstGeom prst="ellipse">
            <a:avLst/>
          </a:prstGeom>
          <a:solidFill>
            <a:srgbClr val="1E2761"/>
          </a:solidFill>
          <a:ln w="12700">
            <a:solidFill>
              <a:srgbClr val="1E2761"/>
            </a:solidFill>
            <a:prstDash val="solid"/>
          </a:ln>
        </p:spPr>
      </p:sp>
      <p:sp>
        <p:nvSpPr>
          <p:cNvPr id="9" name="Text 7"/>
          <p:cNvSpPr/>
          <p:nvPr/>
        </p:nvSpPr>
        <p:spPr>
          <a:xfrm>
            <a:off x="548640" y="26700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051560" y="2624328"/>
            <a:ext cx="4892040" cy="274320"/>
          </a:xfrm>
          <a:prstGeom prst="rect">
            <a:avLst/>
          </a:prstGeom>
          <a:noFill/>
          <a:ln/>
        </p:spPr>
        <p:txBody>
          <a:bodyPr wrap="square" lIns="0" tIns="0" rIns="0" bIns="0" rtlCol="0" anchor="ctr"/>
          <a:lstStyle/>
          <a:p>
            <a:pPr indent="0" marL="0">
              <a:buNone/>
            </a:pPr>
            <a:r>
              <a:rPr lang="en-US" sz="1350" b="1" dirty="0">
                <a:solidFill>
                  <a:srgbClr val="222222"/>
                </a:solidFill>
                <a:latin typeface="Calibri" pitchFamily="34" charset="0"/>
                <a:ea typeface="Calibri" pitchFamily="34" charset="-122"/>
                <a:cs typeface="Calibri" pitchFamily="34" charset="-120"/>
              </a:rPr>
              <a:t>Published fairness gaps track crime volume</a:t>
            </a:r>
            <a:endParaRPr lang="en-US" sz="1350" dirty="0"/>
          </a:p>
        </p:txBody>
      </p:sp>
      <p:sp>
        <p:nvSpPr>
          <p:cNvPr id="11" name="Text 9"/>
          <p:cNvSpPr/>
          <p:nvPr/>
        </p:nvSpPr>
        <p:spPr>
          <a:xfrm>
            <a:off x="1051560" y="2907792"/>
            <a:ext cx="4892040" cy="566928"/>
          </a:xfrm>
          <a:prstGeom prst="rect">
            <a:avLst/>
          </a:prstGeom>
          <a:noFill/>
          <a:ln/>
        </p:spPr>
        <p:txBody>
          <a:bodyPr wrap="square" lIns="0" tIns="0" rIns="0" bIns="0" rtlCol="0" anchor="ctr"/>
          <a:lstStyle/>
          <a:p>
            <a:pPr indent="0" marL="0">
              <a:lnSpc>
                <a:spcPts val="1400"/>
              </a:lnSpc>
              <a:buNone/>
            </a:pPr>
            <a:r>
              <a:rPr lang="en-US" sz="1150" dirty="0">
                <a:solidFill>
                  <a:srgbClr val="5A5A5A"/>
                </a:solidFill>
                <a:latin typeface="Calibri" pitchFamily="34" charset="0"/>
                <a:ea typeface="Calibri" pitchFamily="34" charset="-122"/>
                <a:cs typeface="Calibri" pitchFamily="34" charset="-120"/>
              </a:rPr>
              <a:t>6 papers, correlation 0.87–0.90, p = 1.3 × 10⁻⁵. Holds with no statistical assumptions at all.</a:t>
            </a:r>
            <a:endParaRPr lang="en-US" sz="1150" dirty="0"/>
          </a:p>
        </p:txBody>
      </p:sp>
      <p:sp>
        <p:nvSpPr>
          <p:cNvPr id="12" name="Shape 10"/>
          <p:cNvSpPr/>
          <p:nvPr/>
        </p:nvSpPr>
        <p:spPr>
          <a:xfrm>
            <a:off x="548640" y="3712464"/>
            <a:ext cx="365760" cy="365760"/>
          </a:xfrm>
          <a:prstGeom prst="ellipse">
            <a:avLst/>
          </a:prstGeom>
          <a:solidFill>
            <a:srgbClr val="1E2761"/>
          </a:solidFill>
          <a:ln w="12700">
            <a:solidFill>
              <a:srgbClr val="1E2761"/>
            </a:solidFill>
            <a:prstDash val="solid"/>
          </a:ln>
        </p:spPr>
      </p:sp>
      <p:sp>
        <p:nvSpPr>
          <p:cNvPr id="13" name="Text 11"/>
          <p:cNvSpPr/>
          <p:nvPr/>
        </p:nvSpPr>
        <p:spPr>
          <a:xfrm>
            <a:off x="548640" y="37124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051560" y="3666744"/>
            <a:ext cx="4892040" cy="274320"/>
          </a:xfrm>
          <a:prstGeom prst="rect">
            <a:avLst/>
          </a:prstGeom>
          <a:noFill/>
          <a:ln/>
        </p:spPr>
        <p:txBody>
          <a:bodyPr wrap="square" lIns="0" tIns="0" rIns="0" bIns="0" rtlCol="0" anchor="ctr"/>
          <a:lstStyle/>
          <a:p>
            <a:pPr indent="0" marL="0">
              <a:buNone/>
            </a:pPr>
            <a:r>
              <a:rPr lang="en-US" sz="1350" b="1" dirty="0">
                <a:solidFill>
                  <a:srgbClr val="222222"/>
                </a:solidFill>
                <a:latin typeface="Calibri" pitchFamily="34" charset="0"/>
                <a:ea typeface="Calibri" pitchFamily="34" charset="-122"/>
                <a:cs typeface="Calibri" pitchFamily="34" charset="-120"/>
              </a:rPr>
              <a:t>It changes who gets help</a:t>
            </a:r>
            <a:endParaRPr lang="en-US" sz="1350" dirty="0"/>
          </a:p>
        </p:txBody>
      </p:sp>
      <p:sp>
        <p:nvSpPr>
          <p:cNvPr id="15" name="Text 13"/>
          <p:cNvSpPr/>
          <p:nvPr/>
        </p:nvSpPr>
        <p:spPr>
          <a:xfrm>
            <a:off x="1051560" y="3950208"/>
            <a:ext cx="4892040" cy="566928"/>
          </a:xfrm>
          <a:prstGeom prst="rect">
            <a:avLst/>
          </a:prstGeom>
          <a:noFill/>
          <a:ln/>
        </p:spPr>
        <p:txBody>
          <a:bodyPr wrap="square" lIns="0" tIns="0" rIns="0" bIns="0" rtlCol="0" anchor="ctr"/>
          <a:lstStyle/>
          <a:p>
            <a:pPr indent="0" marL="0">
              <a:lnSpc>
                <a:spcPts val="1400"/>
              </a:lnSpc>
              <a:buNone/>
            </a:pPr>
            <a:r>
              <a:rPr lang="en-US" sz="1150" dirty="0">
                <a:solidFill>
                  <a:srgbClr val="5A5A5A"/>
                </a:solidFill>
                <a:latin typeface="Calibri" pitchFamily="34" charset="0"/>
                <a:ea typeface="Calibri" pitchFamily="34" charset="-122"/>
                <a:cs typeface="Calibri" pitchFamily="34" charset="-120"/>
              </a:rPr>
              <a:t>Picking the best model: unaffected. Picking which area needs help: changed for every single model.</a:t>
            </a:r>
            <a:endParaRPr lang="en-US" sz="1150" dirty="0"/>
          </a:p>
        </p:txBody>
      </p:sp>
      <p:pic>
        <p:nvPicPr>
          <p:cNvPr id="16" name="Image 0" descr="slides/s4_pies.png">    </p:cNvPr>
          <p:cNvPicPr>
            <a:picLocks noChangeAspect="1"/>
          </p:cNvPicPr>
          <p:nvPr/>
        </p:nvPicPr>
        <p:blipFill>
          <a:blip r:embed="rId1"/>
          <a:stretch>
            <a:fillRect/>
          </a:stretch>
        </p:blipFill>
        <p:spPr>
          <a:xfrm>
            <a:off x="777240" y="4663440"/>
            <a:ext cx="4846320" cy="1773936"/>
          </a:xfrm>
          <a:prstGeom prst="rect">
            <a:avLst/>
          </a:prstGeom>
        </p:spPr>
      </p:pic>
      <p:sp>
        <p:nvSpPr>
          <p:cNvPr id="17" name="Shape 14"/>
          <p:cNvSpPr/>
          <p:nvPr/>
        </p:nvSpPr>
        <p:spPr>
          <a:xfrm>
            <a:off x="6446520" y="1536192"/>
            <a:ext cx="5257800" cy="2286000"/>
          </a:xfrm>
          <a:prstGeom prst="roundRect">
            <a:avLst>
              <a:gd name="adj" fmla="val 2800"/>
            </a:avLst>
          </a:prstGeom>
          <a:solidFill>
            <a:srgbClr val="F4F6FA"/>
          </a:solidFill>
          <a:ln w="12700">
            <a:solidFill>
              <a:srgbClr val="F4F6FA"/>
            </a:solidFill>
            <a:prstDash val="solid"/>
          </a:ln>
        </p:spPr>
      </p:sp>
      <p:sp>
        <p:nvSpPr>
          <p:cNvPr id="18" name="Text 15"/>
          <p:cNvSpPr/>
          <p:nvPr/>
        </p:nvSpPr>
        <p:spPr>
          <a:xfrm>
            <a:off x="6693408" y="1664208"/>
            <a:ext cx="4754880" cy="25603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TARGET VENUE</a:t>
            </a:r>
            <a:endParaRPr lang="en-US" sz="1150" dirty="0"/>
          </a:p>
        </p:txBody>
      </p:sp>
      <p:sp>
        <p:nvSpPr>
          <p:cNvPr id="19" name="Text 16"/>
          <p:cNvSpPr/>
          <p:nvPr/>
        </p:nvSpPr>
        <p:spPr>
          <a:xfrm>
            <a:off x="6693408" y="1920240"/>
            <a:ext cx="4754880" cy="402336"/>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ACM FAccT 2027</a:t>
            </a:r>
            <a:endParaRPr lang="en-US" sz="2500" dirty="0"/>
          </a:p>
        </p:txBody>
      </p:sp>
      <p:sp>
        <p:nvSpPr>
          <p:cNvPr id="20" name="Text 17"/>
          <p:cNvSpPr/>
          <p:nvPr/>
        </p:nvSpPr>
        <p:spPr>
          <a:xfrm>
            <a:off x="6693408" y="2340864"/>
            <a:ext cx="4754880" cy="365760"/>
          </a:xfrm>
          <a:prstGeom prst="rect">
            <a:avLst/>
          </a:prstGeom>
          <a:noFill/>
          <a:ln/>
        </p:spPr>
        <p:txBody>
          <a:bodyPr wrap="square" lIns="0" tIns="0" rIns="0" bIns="0" rtlCol="0" anchor="ctr"/>
          <a:lstStyle/>
          <a:p>
            <a:pPr indent="0" marL="0">
              <a:lnSpc>
                <a:spcPts val="1400"/>
              </a:lnSpc>
              <a:buNone/>
            </a:pPr>
            <a:r>
              <a:rPr lang="en-US" sz="1150" dirty="0">
                <a:solidFill>
                  <a:srgbClr val="5A5A5A"/>
                </a:solidFill>
                <a:latin typeface="Calibri" pitchFamily="34" charset="0"/>
                <a:ea typeface="Calibri" pitchFamily="34" charset="-122"/>
                <a:cs typeface="Calibri" pitchFamily="34" charset="-120"/>
              </a:rPr>
              <a:t>Conference on Fairness, Accountability and Transparency</a:t>
            </a:r>
            <a:endParaRPr lang="en-US" sz="1150" dirty="0"/>
          </a:p>
        </p:txBody>
      </p:sp>
      <p:sp>
        <p:nvSpPr>
          <p:cNvPr id="21" name="Text 18"/>
          <p:cNvSpPr/>
          <p:nvPr/>
        </p:nvSpPr>
        <p:spPr>
          <a:xfrm>
            <a:off x="6693408" y="2761488"/>
            <a:ext cx="4754880" cy="932688"/>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222222"/>
                </a:solidFill>
                <a:latin typeface="Calibri" pitchFamily="34" charset="0"/>
                <a:ea typeface="Calibri" pitchFamily="34" charset="-122"/>
                <a:cs typeface="Calibri" pitchFamily="34" charset="-120"/>
              </a:rPr>
              <a:t>Abstract due  27 October 2026</a:t>
            </a:r>
            <a:endParaRPr lang="en-US" sz="1200" dirty="0"/>
          </a:p>
          <a:p>
            <a:pPr marL="342900" indent="-342900">
              <a:spcAft>
                <a:spcPts val="500"/>
              </a:spcAft>
              <a:buSzPct val="100000"/>
              <a:buChar char="•"/>
            </a:pPr>
            <a:r>
              <a:rPr lang="en-US" sz="1200" dirty="0">
                <a:solidFill>
                  <a:srgbClr val="222222"/>
                </a:solidFill>
                <a:latin typeface="Calibri" pitchFamily="34" charset="0"/>
                <a:ea typeface="Calibri" pitchFamily="34" charset="-122"/>
                <a:cs typeface="Calibri" pitchFamily="34" charset="-120"/>
              </a:rPr>
              <a:t>Paper due  3 November 2026</a:t>
            </a:r>
            <a:endParaRPr lang="en-US" sz="1200" dirty="0"/>
          </a:p>
          <a:p>
            <a:pPr marL="342900" indent="-342900">
              <a:spcAft>
                <a:spcPts val="500"/>
              </a:spcAft>
              <a:buSzPct val="100000"/>
              <a:buChar char="•"/>
            </a:pPr>
            <a:r>
              <a:rPr lang="en-US" sz="1200" dirty="0">
                <a:solidFill>
                  <a:srgbClr val="222222"/>
                </a:solidFill>
                <a:latin typeface="Calibri" pitchFamily="34" charset="0"/>
                <a:ea typeface="Calibri" pitchFamily="34" charset="-122"/>
                <a:cs typeface="Calibri" pitchFamily="34" charset="-120"/>
              </a:rPr>
              <a:t>Acceptance 26.8% — revise round accepts 71%</a:t>
            </a:r>
            <a:endParaRPr lang="en-US" sz="1200" dirty="0"/>
          </a:p>
        </p:txBody>
      </p:sp>
      <p:sp>
        <p:nvSpPr>
          <p:cNvPr id="22" name="Shape 19"/>
          <p:cNvSpPr/>
          <p:nvPr/>
        </p:nvSpPr>
        <p:spPr>
          <a:xfrm>
            <a:off x="6446520" y="3968496"/>
            <a:ext cx="5257800" cy="1060704"/>
          </a:xfrm>
          <a:prstGeom prst="roundRect">
            <a:avLst>
              <a:gd name="adj" fmla="val 6034"/>
            </a:avLst>
          </a:prstGeom>
          <a:solidFill>
            <a:srgbClr val="EAF3EC"/>
          </a:solidFill>
          <a:ln w="12700">
            <a:solidFill>
              <a:srgbClr val="EAF3EC"/>
            </a:solidFill>
            <a:prstDash val="solid"/>
          </a:ln>
        </p:spPr>
      </p:sp>
      <p:sp>
        <p:nvSpPr>
          <p:cNvPr id="23" name="Text 20"/>
          <p:cNvSpPr/>
          <p:nvPr/>
        </p:nvSpPr>
        <p:spPr>
          <a:xfrm>
            <a:off x="6693408" y="4078224"/>
            <a:ext cx="4754880" cy="868680"/>
          </a:xfrm>
          <a:prstGeom prst="rect">
            <a:avLst/>
          </a:prstGeom>
          <a:noFill/>
          <a:ln/>
        </p:spPr>
        <p:txBody>
          <a:bodyPr wrap="square" lIns="0" tIns="0" rIns="0" bIns="0" rtlCol="0" anchor="ctr"/>
          <a:lstStyle/>
          <a:p>
            <a:pPr indent="0" marL="0">
              <a:lnSpc>
                <a:spcPts val="1500"/>
              </a:lnSpc>
              <a:buNone/>
            </a:pPr>
            <a:r>
              <a:rPr lang="en-US" sz="1200" dirty="0">
                <a:solidFill>
                  <a:srgbClr val="145A32"/>
                </a:solidFill>
                <a:latin typeface="Calibri" pitchFamily="34" charset="0"/>
                <a:ea typeface="Calibri" pitchFamily="34" charset="-122"/>
                <a:cs typeface="Calibri" pitchFamily="34" charset="-120"/>
              </a:rPr>
              <a:t>Their call asks specifically for papers that "examine evaluation metrics and measurement practices" — our paper in their own words.</a:t>
            </a:r>
            <a:endParaRPr lang="en-US" sz="1200" dirty="0"/>
          </a:p>
        </p:txBody>
      </p:sp>
      <p:sp>
        <p:nvSpPr>
          <p:cNvPr id="24" name="Shape 21"/>
          <p:cNvSpPr/>
          <p:nvPr/>
        </p:nvSpPr>
        <p:spPr>
          <a:xfrm>
            <a:off x="6446520" y="5175504"/>
            <a:ext cx="5257800" cy="640080"/>
          </a:xfrm>
          <a:prstGeom prst="roundRect">
            <a:avLst>
              <a:gd name="adj" fmla="val 10000"/>
            </a:avLst>
          </a:prstGeom>
          <a:solidFill>
            <a:srgbClr val="F4F6FA"/>
          </a:solidFill>
          <a:ln w="12700">
            <a:solidFill>
              <a:srgbClr val="F4F6FA"/>
            </a:solidFill>
            <a:prstDash val="solid"/>
          </a:ln>
        </p:spPr>
      </p:sp>
      <p:sp>
        <p:nvSpPr>
          <p:cNvPr id="25" name="Text 22"/>
          <p:cNvSpPr/>
          <p:nvPr/>
        </p:nvSpPr>
        <p:spPr>
          <a:xfrm>
            <a:off x="6693408" y="5285232"/>
            <a:ext cx="4754880" cy="438912"/>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Backup: ACM TIST (journal, no deadline)</a:t>
            </a:r>
            <a:endParaRPr lang="en-US" sz="1200" dirty="0"/>
          </a:p>
        </p:txBody>
      </p:sp>
      <p:sp>
        <p:nvSpPr>
          <p:cNvPr id="26" name="Shape 23"/>
          <p:cNvSpPr/>
          <p:nvPr/>
        </p:nvSpPr>
        <p:spPr>
          <a:xfrm>
            <a:off x="6446520" y="5961888"/>
            <a:ext cx="5257800" cy="822960"/>
          </a:xfrm>
          <a:prstGeom prst="roundRect">
            <a:avLst>
              <a:gd name="adj" fmla="val 7778"/>
            </a:avLst>
          </a:prstGeom>
          <a:solidFill>
            <a:srgbClr val="FEF9E7"/>
          </a:solidFill>
          <a:ln w="12700">
            <a:solidFill>
              <a:srgbClr val="FEF9E7"/>
            </a:solidFill>
            <a:prstDash val="solid"/>
          </a:ln>
        </p:spPr>
      </p:sp>
      <p:sp>
        <p:nvSpPr>
          <p:cNvPr id="27" name="Text 24"/>
          <p:cNvSpPr/>
          <p:nvPr/>
        </p:nvSpPr>
        <p:spPr>
          <a:xfrm>
            <a:off x="6693408" y="6053328"/>
            <a:ext cx="4754880" cy="658368"/>
          </a:xfrm>
          <a:prstGeom prst="rect">
            <a:avLst/>
          </a:prstGeom>
          <a:noFill/>
          <a:ln/>
        </p:spPr>
        <p:txBody>
          <a:bodyPr wrap="square" lIns="0" tIns="0" rIns="0" bIns="0" rtlCol="0" anchor="ctr"/>
          <a:lstStyle/>
          <a:p>
            <a:pPr indent="0" marL="0">
              <a:lnSpc>
                <a:spcPts val="1500"/>
              </a:lnSpc>
              <a:buNone/>
            </a:pPr>
            <a:r>
              <a:rPr lang="en-US" sz="1200" b="1" dirty="0">
                <a:solidFill>
                  <a:srgbClr val="7D6608"/>
                </a:solidFill>
                <a:latin typeface="Calibri" pitchFamily="34" charset="0"/>
                <a:ea typeface="Calibri" pitchFamily="34" charset="-122"/>
                <a:cs typeface="Calibri" pitchFamily="34" charset="-120"/>
              </a:rPr>
              <a:t>DECISION NEEDED: build the paper around this measurement finding, and keep the attack/defence work for a second paper?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74320"/>
            <a:ext cx="11064240" cy="640080"/>
          </a:xfrm>
          <a:prstGeom prst="rect">
            <a:avLst/>
          </a:prstGeom>
          <a:noFill/>
          <a:ln/>
        </p:spPr>
        <p:txBody>
          <a:bodyPr wrap="square"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Where we were before physics</a:t>
            </a:r>
            <a:endParaRPr lang="en-US" sz="3300" dirty="0"/>
          </a:p>
        </p:txBody>
      </p:sp>
      <p:sp>
        <p:nvSpPr>
          <p:cNvPr id="3" name="Text 1"/>
          <p:cNvSpPr/>
          <p:nvPr/>
        </p:nvSpPr>
        <p:spPr>
          <a:xfrm>
            <a:off x="548640" y="905256"/>
            <a:ext cx="11064240" cy="365760"/>
          </a:xfrm>
          <a:prstGeom prst="rect">
            <a:avLst/>
          </a:prstGeom>
          <a:noFill/>
          <a:ln/>
        </p:spPr>
        <p:txBody>
          <a:bodyPr wrap="square" rtlCol="0" anchor="ctr"/>
          <a:lstStyle/>
          <a:p>
            <a:pPr indent="0" marL="0">
              <a:buNone/>
            </a:pPr>
            <a:r>
              <a:rPr lang="en-US" sz="1450" dirty="0">
                <a:solidFill>
                  <a:srgbClr val="5A5A5A"/>
                </a:solidFill>
                <a:latin typeface="Calibri" pitchFamily="34" charset="0"/>
                <a:ea typeface="Calibri" pitchFamily="34" charset="-122"/>
                <a:cs typeface="Calibri" pitchFamily="34" charset="-120"/>
              </a:rPr>
              <a:t>Every method was tested against an identical model with the new part switched off</a:t>
            </a:r>
            <a:endParaRPr lang="en-US" sz="1450" dirty="0"/>
          </a:p>
        </p:txBody>
      </p:sp>
      <p:pic>
        <p:nvPicPr>
          <p:cNvPr id="4" name="Image 0" descr="slides/p1_before.png">    </p:cNvPr>
          <p:cNvPicPr>
            <a:picLocks noChangeAspect="1"/>
          </p:cNvPicPr>
          <p:nvPr/>
        </p:nvPicPr>
        <p:blipFill>
          <a:blip r:embed="rId1"/>
          <a:stretch>
            <a:fillRect/>
          </a:stretch>
        </p:blipFill>
        <p:spPr>
          <a:xfrm>
            <a:off x="457200" y="1353312"/>
            <a:ext cx="6309360" cy="3108960"/>
          </a:xfrm>
          <a:prstGeom prst="rect">
            <a:avLst/>
          </a:prstGeom>
        </p:spPr>
      </p:pic>
      <p:sp>
        <p:nvSpPr>
          <p:cNvPr id="5" name="Text 2"/>
          <p:cNvSpPr/>
          <p:nvPr/>
        </p:nvSpPr>
        <p:spPr>
          <a:xfrm>
            <a:off x="457200" y="4553712"/>
            <a:ext cx="6309360" cy="457200"/>
          </a:xfrm>
          <a:prstGeom prst="rect">
            <a:avLst/>
          </a:prstGeom>
          <a:noFill/>
          <a:ln/>
        </p:spPr>
        <p:txBody>
          <a:bodyPr wrap="square"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Reweighting made the gap worse. Group-DRO and adaptive thresholds did nothing.</a:t>
            </a:r>
            <a:endParaRPr lang="en-US" sz="1200" dirty="0"/>
          </a:p>
          <a:p>
            <a:pPr indent="0" marL="0">
              <a:buNone/>
            </a:pPr>
            <a:r>
              <a:rPr lang="en-US" sz="1200" i="1" dirty="0">
                <a:solidFill>
                  <a:srgbClr val="5A5A5A"/>
                </a:solidFill>
                <a:latin typeface="Calibri" pitchFamily="34" charset="0"/>
                <a:ea typeface="Calibri" pitchFamily="34" charset="-122"/>
                <a:cs typeface="Calibri" pitchFamily="34" charset="-120"/>
              </a:rPr>
              <a:t>All three graph types landed below their controls.</a:t>
            </a:r>
            <a:endParaRPr lang="en-US" sz="1200" dirty="0"/>
          </a:p>
        </p:txBody>
      </p:sp>
      <p:sp>
        <p:nvSpPr>
          <p:cNvPr id="6" name="Shape 3"/>
          <p:cNvSpPr/>
          <p:nvPr/>
        </p:nvSpPr>
        <p:spPr>
          <a:xfrm>
            <a:off x="7543800" y="1463040"/>
            <a:ext cx="4160520" cy="1325880"/>
          </a:xfrm>
          <a:prstGeom prst="roundRect">
            <a:avLst>
              <a:gd name="adj" fmla="val 4828"/>
            </a:avLst>
          </a:prstGeom>
          <a:solidFill>
            <a:srgbClr val="FDF2F0"/>
          </a:solidFill>
          <a:ln w="12700">
            <a:solidFill>
              <a:srgbClr val="FDF2F0"/>
            </a:solidFill>
            <a:prstDash val="solid"/>
          </a:ln>
        </p:spPr>
      </p:sp>
      <p:sp>
        <p:nvSpPr>
          <p:cNvPr id="7" name="Text 4"/>
          <p:cNvSpPr/>
          <p:nvPr/>
        </p:nvSpPr>
        <p:spPr>
          <a:xfrm>
            <a:off x="7772400" y="1572768"/>
            <a:ext cx="3749040" cy="274320"/>
          </a:xfrm>
          <a:prstGeom prst="rect">
            <a:avLst/>
          </a:prstGeom>
          <a:noFill/>
          <a:ln/>
        </p:spPr>
        <p:txBody>
          <a:bodyPr wrap="square" lIns="0" tIns="0" rIns="0" bIns="0" rtlCol="0" anchor="ctr"/>
          <a:lstStyle/>
          <a:p>
            <a:pPr indent="0" marL="0">
              <a:buNone/>
            </a:pPr>
            <a:r>
              <a:rPr lang="en-US" sz="1150" b="1" dirty="0">
                <a:solidFill>
                  <a:srgbClr val="7B241C"/>
                </a:solidFill>
                <a:latin typeface="Calibri" pitchFamily="34" charset="0"/>
                <a:ea typeface="Calibri" pitchFamily="34" charset="-122"/>
                <a:cs typeface="Calibri" pitchFamily="34" charset="-120"/>
              </a:rPr>
              <a:t>SIX ATTEMPTS, NONE WORKED</a:t>
            </a:r>
            <a:endParaRPr lang="en-US" sz="1150" dirty="0"/>
          </a:p>
        </p:txBody>
      </p:sp>
      <p:sp>
        <p:nvSpPr>
          <p:cNvPr id="8" name="Text 5"/>
          <p:cNvSpPr/>
          <p:nvPr/>
        </p:nvSpPr>
        <p:spPr>
          <a:xfrm>
            <a:off x="7772400" y="1847088"/>
            <a:ext cx="3749040" cy="914400"/>
          </a:xfrm>
          <a:prstGeom prst="rect">
            <a:avLst/>
          </a:prstGeom>
          <a:noFill/>
          <a:ln/>
        </p:spPr>
        <p:txBody>
          <a:bodyPr wrap="square" lIns="0" tIns="0" rIns="0" bIns="0" rtlCol="0" anchor="ctr"/>
          <a:lstStyle/>
          <a:p>
            <a:pPr indent="0" marL="0">
              <a:lnSpc>
                <a:spcPts val="1600"/>
              </a:lnSpc>
              <a:buNone/>
            </a:pPr>
            <a:r>
              <a:rPr lang="en-US" sz="1300" dirty="0">
                <a:solidFill>
                  <a:srgbClr val="222222"/>
                </a:solidFill>
                <a:latin typeface="Calibri" pitchFamily="34" charset="0"/>
                <a:ea typeface="Calibri" pitchFamily="34" charset="-122"/>
                <a:cs typeface="Calibri" pitchFamily="34" charset="-120"/>
              </a:rPr>
              <a:t>Not one added ingredient beat its own matched control. The gated graph even learned to switch itself off.</a:t>
            </a:r>
            <a:endParaRPr lang="en-US" sz="1300" dirty="0"/>
          </a:p>
        </p:txBody>
      </p:sp>
      <p:sp>
        <p:nvSpPr>
          <p:cNvPr id="9" name="Shape 6"/>
          <p:cNvSpPr/>
          <p:nvPr/>
        </p:nvSpPr>
        <p:spPr>
          <a:xfrm>
            <a:off x="7543800" y="2926080"/>
            <a:ext cx="4160520" cy="1325880"/>
          </a:xfrm>
          <a:prstGeom prst="roundRect">
            <a:avLst>
              <a:gd name="adj" fmla="val 4828"/>
            </a:avLst>
          </a:prstGeom>
          <a:solidFill>
            <a:srgbClr val="F4F6FA"/>
          </a:solidFill>
          <a:ln w="12700">
            <a:solidFill>
              <a:srgbClr val="F4F6FA"/>
            </a:solidFill>
            <a:prstDash val="solid"/>
          </a:ln>
        </p:spPr>
      </p:sp>
      <p:sp>
        <p:nvSpPr>
          <p:cNvPr id="10" name="Text 7"/>
          <p:cNvSpPr/>
          <p:nvPr/>
        </p:nvSpPr>
        <p:spPr>
          <a:xfrm>
            <a:off x="7772400" y="3035808"/>
            <a:ext cx="3749040" cy="27432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THE MODEL BARELY BEAT GUESSING</a:t>
            </a:r>
            <a:endParaRPr lang="en-US" sz="1150" dirty="0"/>
          </a:p>
        </p:txBody>
      </p:sp>
      <p:sp>
        <p:nvSpPr>
          <p:cNvPr id="11" name="Text 8"/>
          <p:cNvSpPr/>
          <p:nvPr/>
        </p:nvSpPr>
        <p:spPr>
          <a:xfrm>
            <a:off x="7772400" y="3310128"/>
            <a:ext cx="3749040" cy="914400"/>
          </a:xfrm>
          <a:prstGeom prst="rect">
            <a:avLst/>
          </a:prstGeom>
          <a:noFill/>
          <a:ln/>
        </p:spPr>
        <p:txBody>
          <a:bodyPr wrap="square" lIns="0" tIns="0" rIns="0" bIns="0" rtlCol="0" anchor="ctr"/>
          <a:lstStyle/>
          <a:p>
            <a:pPr indent="0" marL="0">
              <a:lnSpc>
                <a:spcPts val="1600"/>
              </a:lnSpc>
              <a:buNone/>
            </a:pPr>
            <a:r>
              <a:rPr lang="en-US" sz="1300" dirty="0">
                <a:solidFill>
                  <a:srgbClr val="222222"/>
                </a:solidFill>
                <a:latin typeface="Calibri" pitchFamily="34" charset="0"/>
                <a:ea typeface="Calibri" pitchFamily="34" charset="-122"/>
                <a:cs typeface="Calibri" pitchFamily="34" charset="-120"/>
              </a:rPr>
              <a:t>On the burglary data the control scored 53 out of 100 at telling a crime week from a quiet one. 50 is a coin flip.</a:t>
            </a:r>
            <a:endParaRPr lang="en-US" sz="1300" dirty="0"/>
          </a:p>
        </p:txBody>
      </p:sp>
      <p:sp>
        <p:nvSpPr>
          <p:cNvPr id="12" name="Shape 9"/>
          <p:cNvSpPr/>
          <p:nvPr/>
        </p:nvSpPr>
        <p:spPr>
          <a:xfrm>
            <a:off x="7543800" y="4389120"/>
            <a:ext cx="4160520" cy="1325880"/>
          </a:xfrm>
          <a:prstGeom prst="roundRect">
            <a:avLst>
              <a:gd name="adj" fmla="val 4828"/>
            </a:avLst>
          </a:prstGeom>
          <a:solidFill>
            <a:srgbClr val="F4F6FA"/>
          </a:solidFill>
          <a:ln w="12700">
            <a:solidFill>
              <a:srgbClr val="F4F6FA"/>
            </a:solidFill>
            <a:prstDash val="solid"/>
          </a:ln>
        </p:spPr>
      </p:sp>
      <p:sp>
        <p:nvSpPr>
          <p:cNvPr id="13" name="Text 10"/>
          <p:cNvSpPr/>
          <p:nvPr/>
        </p:nvSpPr>
        <p:spPr>
          <a:xfrm>
            <a:off x="7772400" y="4498848"/>
            <a:ext cx="3749040" cy="27432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WHAT WE CONCLUDED</a:t>
            </a:r>
            <a:endParaRPr lang="en-US" sz="1150" dirty="0"/>
          </a:p>
        </p:txBody>
      </p:sp>
      <p:sp>
        <p:nvSpPr>
          <p:cNvPr id="14" name="Text 11"/>
          <p:cNvSpPr/>
          <p:nvPr/>
        </p:nvSpPr>
        <p:spPr>
          <a:xfrm>
            <a:off x="7772400" y="4773168"/>
            <a:ext cx="3749040" cy="914400"/>
          </a:xfrm>
          <a:prstGeom prst="rect">
            <a:avLst/>
          </a:prstGeom>
          <a:noFill/>
          <a:ln/>
        </p:spPr>
        <p:txBody>
          <a:bodyPr wrap="square" lIns="0" tIns="0" rIns="0" bIns="0" rtlCol="0" anchor="ctr"/>
          <a:lstStyle/>
          <a:p>
            <a:pPr indent="0" marL="0">
              <a:lnSpc>
                <a:spcPts val="1600"/>
              </a:lnSpc>
              <a:buNone/>
            </a:pPr>
            <a:r>
              <a:rPr lang="en-US" sz="1300" dirty="0">
                <a:solidFill>
                  <a:srgbClr val="222222"/>
                </a:solidFill>
                <a:latin typeface="Calibri" pitchFamily="34" charset="0"/>
                <a:ea typeface="Calibri" pitchFamily="34" charset="-122"/>
                <a:cs typeface="Calibri" pitchFamily="34" charset="-120"/>
              </a:rPr>
              <a:t>The limit was in the data, not the architecture. More layers, better graphs and smarter losses all hit the same wall.</a:t>
            </a:r>
            <a:endParaRPr lang="en-US" sz="1300" dirty="0"/>
          </a:p>
        </p:txBody>
      </p:sp>
      <p:sp>
        <p:nvSpPr>
          <p:cNvPr id="15" name="Shape 12"/>
          <p:cNvSpPr/>
          <p:nvPr/>
        </p:nvSpPr>
        <p:spPr>
          <a:xfrm>
            <a:off x="457200" y="5138928"/>
            <a:ext cx="2011680" cy="1005840"/>
          </a:xfrm>
          <a:prstGeom prst="roundRect">
            <a:avLst>
              <a:gd name="adj" fmla="val 6364"/>
            </a:avLst>
          </a:prstGeom>
          <a:solidFill>
            <a:srgbClr val="F4F6FA"/>
          </a:solidFill>
          <a:ln w="12700">
            <a:solidFill>
              <a:srgbClr val="F4F6FA"/>
            </a:solidFill>
            <a:prstDash val="solid"/>
          </a:ln>
        </p:spPr>
      </p:sp>
      <p:sp>
        <p:nvSpPr>
          <p:cNvPr id="16" name="Text 13"/>
          <p:cNvSpPr/>
          <p:nvPr/>
        </p:nvSpPr>
        <p:spPr>
          <a:xfrm>
            <a:off x="457200" y="5221224"/>
            <a:ext cx="2011680" cy="530352"/>
          </a:xfrm>
          <a:prstGeom prst="rect">
            <a:avLst/>
          </a:prstGeom>
          <a:noFill/>
          <a:ln/>
        </p:spPr>
        <p:txBody>
          <a:bodyPr wrap="square" lIns="0" tIns="0" rIns="0" bIns="0" rtlCol="0" anchor="ctr"/>
          <a:lstStyle/>
          <a:p>
            <a:pPr algn="ctr" indent="0" marL="0">
              <a:buNone/>
            </a:pPr>
            <a:r>
              <a:rPr lang="en-US" sz="2700" b="1" dirty="0">
                <a:solidFill>
                  <a:srgbClr val="1E2761"/>
                </a:solidFill>
                <a:latin typeface="Calibri" pitchFamily="34" charset="0"/>
                <a:ea typeface="Calibri" pitchFamily="34" charset="-122"/>
                <a:cs typeface="Calibri" pitchFamily="34" charset="-120"/>
              </a:rPr>
              <a:t>6</a:t>
            </a:r>
            <a:endParaRPr lang="en-US" sz="2700" dirty="0"/>
          </a:p>
        </p:txBody>
      </p:sp>
      <p:sp>
        <p:nvSpPr>
          <p:cNvPr id="17" name="Text 14"/>
          <p:cNvSpPr/>
          <p:nvPr/>
        </p:nvSpPr>
        <p:spPr>
          <a:xfrm>
            <a:off x="457200" y="5742432"/>
            <a:ext cx="201168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methods tried</a:t>
            </a:r>
            <a:endParaRPr lang="en-US" sz="1150" dirty="0"/>
          </a:p>
        </p:txBody>
      </p:sp>
      <p:sp>
        <p:nvSpPr>
          <p:cNvPr id="18" name="Shape 15"/>
          <p:cNvSpPr/>
          <p:nvPr/>
        </p:nvSpPr>
        <p:spPr>
          <a:xfrm>
            <a:off x="2606040" y="5138928"/>
            <a:ext cx="2011680" cy="1005840"/>
          </a:xfrm>
          <a:prstGeom prst="roundRect">
            <a:avLst>
              <a:gd name="adj" fmla="val 6364"/>
            </a:avLst>
          </a:prstGeom>
          <a:solidFill>
            <a:srgbClr val="F4F6FA"/>
          </a:solidFill>
          <a:ln w="12700">
            <a:solidFill>
              <a:srgbClr val="F4F6FA"/>
            </a:solidFill>
            <a:prstDash val="solid"/>
          </a:ln>
        </p:spPr>
      </p:sp>
      <p:sp>
        <p:nvSpPr>
          <p:cNvPr id="19" name="Text 16"/>
          <p:cNvSpPr/>
          <p:nvPr/>
        </p:nvSpPr>
        <p:spPr>
          <a:xfrm>
            <a:off x="2606040" y="5221224"/>
            <a:ext cx="2011680" cy="530352"/>
          </a:xfrm>
          <a:prstGeom prst="rect">
            <a:avLst/>
          </a:prstGeom>
          <a:noFill/>
          <a:ln/>
        </p:spPr>
        <p:txBody>
          <a:bodyPr wrap="square" lIns="0" tIns="0" rIns="0" bIns="0" rtlCol="0" anchor="ctr"/>
          <a:lstStyle/>
          <a:p>
            <a:pPr algn="ctr" indent="0" marL="0">
              <a:buNone/>
            </a:pPr>
            <a:r>
              <a:rPr lang="en-US" sz="2700" b="1" dirty="0">
                <a:solidFill>
                  <a:srgbClr val="C0392B"/>
                </a:solidFill>
                <a:latin typeface="Calibri" pitchFamily="34" charset="0"/>
                <a:ea typeface="Calibri" pitchFamily="34" charset="-122"/>
                <a:cs typeface="Calibri" pitchFamily="34" charset="-120"/>
              </a:rPr>
              <a:t>0</a:t>
            </a:r>
            <a:endParaRPr lang="en-US" sz="2700" dirty="0"/>
          </a:p>
        </p:txBody>
      </p:sp>
      <p:sp>
        <p:nvSpPr>
          <p:cNvPr id="20" name="Text 17"/>
          <p:cNvSpPr/>
          <p:nvPr/>
        </p:nvSpPr>
        <p:spPr>
          <a:xfrm>
            <a:off x="2606040" y="5742432"/>
            <a:ext cx="201168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that worked</a:t>
            </a:r>
            <a:endParaRPr lang="en-US" sz="1150" dirty="0"/>
          </a:p>
        </p:txBody>
      </p:sp>
      <p:sp>
        <p:nvSpPr>
          <p:cNvPr id="21" name="Shape 18"/>
          <p:cNvSpPr/>
          <p:nvPr/>
        </p:nvSpPr>
        <p:spPr>
          <a:xfrm>
            <a:off x="4754880" y="5138928"/>
            <a:ext cx="2011680" cy="1005840"/>
          </a:xfrm>
          <a:prstGeom prst="roundRect">
            <a:avLst>
              <a:gd name="adj" fmla="val 6364"/>
            </a:avLst>
          </a:prstGeom>
          <a:solidFill>
            <a:srgbClr val="F4F6FA"/>
          </a:solidFill>
          <a:ln w="12700">
            <a:solidFill>
              <a:srgbClr val="F4F6FA"/>
            </a:solidFill>
            <a:prstDash val="solid"/>
          </a:ln>
        </p:spPr>
      </p:sp>
      <p:sp>
        <p:nvSpPr>
          <p:cNvPr id="22" name="Text 19"/>
          <p:cNvSpPr/>
          <p:nvPr/>
        </p:nvSpPr>
        <p:spPr>
          <a:xfrm>
            <a:off x="4754880" y="5221224"/>
            <a:ext cx="2011680" cy="530352"/>
          </a:xfrm>
          <a:prstGeom prst="rect">
            <a:avLst/>
          </a:prstGeom>
          <a:noFill/>
          <a:ln/>
        </p:spPr>
        <p:txBody>
          <a:bodyPr wrap="square" lIns="0" tIns="0" rIns="0" bIns="0" rtlCol="0" anchor="ctr"/>
          <a:lstStyle/>
          <a:p>
            <a:pPr algn="ctr" indent="0" marL="0">
              <a:buNone/>
            </a:pPr>
            <a:r>
              <a:rPr lang="en-US" sz="2700" b="1" dirty="0">
                <a:solidFill>
                  <a:srgbClr val="7F8C8D"/>
                </a:solidFill>
                <a:latin typeface="Calibri" pitchFamily="34" charset="0"/>
                <a:ea typeface="Calibri" pitchFamily="34" charset="-122"/>
                <a:cs typeface="Calibri" pitchFamily="34" charset="-120"/>
              </a:rPr>
              <a:t>53</a:t>
            </a:r>
            <a:endParaRPr lang="en-US" sz="2700" dirty="0"/>
          </a:p>
        </p:txBody>
      </p:sp>
      <p:sp>
        <p:nvSpPr>
          <p:cNvPr id="23" name="Text 20"/>
          <p:cNvSpPr/>
          <p:nvPr/>
        </p:nvSpPr>
        <p:spPr>
          <a:xfrm>
            <a:off x="4754880" y="5742432"/>
            <a:ext cx="201168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score out of 100</a:t>
            </a:r>
            <a:endParaRPr lang="en-US" sz="1150" dirty="0"/>
          </a:p>
        </p:txBody>
      </p:sp>
      <p:sp>
        <p:nvSpPr>
          <p:cNvPr id="24" name="Shape 21"/>
          <p:cNvSpPr/>
          <p:nvPr/>
        </p:nvSpPr>
        <p:spPr>
          <a:xfrm>
            <a:off x="457200" y="6291072"/>
            <a:ext cx="11247120" cy="502920"/>
          </a:xfrm>
          <a:prstGeom prst="roundRect">
            <a:avLst>
              <a:gd name="adj" fmla="val 12727"/>
            </a:avLst>
          </a:prstGeom>
          <a:solidFill>
            <a:srgbClr val="F4F6FA"/>
          </a:solidFill>
          <a:ln w="12700">
            <a:solidFill>
              <a:srgbClr val="F4F6FA"/>
            </a:solidFill>
            <a:prstDash val="solid"/>
          </a:ln>
        </p:spPr>
      </p:sp>
      <p:sp>
        <p:nvSpPr>
          <p:cNvPr id="25" name="Text 22"/>
          <p:cNvSpPr/>
          <p:nvPr/>
        </p:nvSpPr>
        <p:spPr>
          <a:xfrm>
            <a:off x="731520" y="6364224"/>
            <a:ext cx="10789920" cy="38404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This is why the physics result matters: it is the first ingredient in the whole project that earned its place.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74320"/>
            <a:ext cx="11064240" cy="640080"/>
          </a:xfrm>
          <a:prstGeom prst="rect">
            <a:avLst/>
          </a:prstGeom>
          <a:noFill/>
          <a:ln/>
        </p:spPr>
        <p:txBody>
          <a:bodyPr wrap="square"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What changed with physics</a:t>
            </a:r>
            <a:endParaRPr lang="en-US" sz="3300" dirty="0"/>
          </a:p>
        </p:txBody>
      </p:sp>
      <p:sp>
        <p:nvSpPr>
          <p:cNvPr id="3" name="Text 1"/>
          <p:cNvSpPr/>
          <p:nvPr/>
        </p:nvSpPr>
        <p:spPr>
          <a:xfrm>
            <a:off x="548640" y="905256"/>
            <a:ext cx="11064240" cy="365760"/>
          </a:xfrm>
          <a:prstGeom prst="rect">
            <a:avLst/>
          </a:prstGeom>
          <a:noFill/>
          <a:ln/>
        </p:spPr>
        <p:txBody>
          <a:bodyPr wrap="square" rtlCol="0" anchor="ctr"/>
          <a:lstStyle/>
          <a:p>
            <a:pPr indent="0" marL="0">
              <a:buNone/>
            </a:pPr>
            <a:r>
              <a:rPr lang="en-US" sz="1450" dirty="0">
                <a:solidFill>
                  <a:srgbClr val="5A5A5A"/>
                </a:solidFill>
                <a:latin typeface="Calibri" pitchFamily="34" charset="0"/>
                <a:ea typeface="Calibri" pitchFamily="34" charset="-122"/>
                <a:cs typeface="Calibri" pitchFamily="34" charset="-120"/>
              </a:rPr>
              <a:t>We wrote a real criminology rule into the model: a burgled street attracts more burglary nearby, and that effect fades over time</a:t>
            </a:r>
            <a:endParaRPr lang="en-US" sz="1450" dirty="0"/>
          </a:p>
        </p:txBody>
      </p:sp>
      <p:pic>
        <p:nvPicPr>
          <p:cNvPr id="4" name="Image 0" descr="slides/p2_auc.png">    </p:cNvPr>
          <p:cNvPicPr>
            <a:picLocks noChangeAspect="1"/>
          </p:cNvPicPr>
          <p:nvPr/>
        </p:nvPicPr>
        <p:blipFill>
          <a:blip r:embed="rId1"/>
          <a:stretch>
            <a:fillRect/>
          </a:stretch>
        </p:blipFill>
        <p:spPr>
          <a:xfrm>
            <a:off x="411480" y="1353312"/>
            <a:ext cx="5852160" cy="3017520"/>
          </a:xfrm>
          <a:prstGeom prst="rect">
            <a:avLst/>
          </a:prstGeom>
        </p:spPr>
      </p:pic>
      <p:sp>
        <p:nvSpPr>
          <p:cNvPr id="5" name="Text 2"/>
          <p:cNvSpPr/>
          <p:nvPr/>
        </p:nvSpPr>
        <p:spPr>
          <a:xfrm>
            <a:off x="411480" y="4443984"/>
            <a:ext cx="5852160" cy="502920"/>
          </a:xfrm>
          <a:prstGeom prst="rect">
            <a:avLst/>
          </a:prstGeom>
          <a:noFill/>
          <a:ln/>
        </p:spPr>
        <p:txBody>
          <a:bodyPr wrap="square"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5 seeds each. t = 9.6, so this is not luck. Generic smoothing scored 44.6 —</a:t>
            </a:r>
            <a:endParaRPr lang="en-US" sz="1200" dirty="0"/>
          </a:p>
          <a:p>
            <a:pPr indent="0" marL="0">
              <a:buNone/>
            </a:pPr>
            <a:r>
              <a:rPr lang="en-US" sz="1200" i="1" dirty="0">
                <a:solidFill>
                  <a:srgbClr val="5A5A5A"/>
                </a:solidFill>
                <a:latin typeface="Calibri" pitchFamily="34" charset="0"/>
                <a:ea typeface="Calibri" pitchFamily="34" charset="-122"/>
                <a:cs typeface="Calibri" pitchFamily="34" charset="-120"/>
              </a:rPr>
              <a:t>WORSE than nothing — so it is the burglary equations doing the work.</a:t>
            </a:r>
            <a:endParaRPr lang="en-US" sz="1200" dirty="0"/>
          </a:p>
        </p:txBody>
      </p:sp>
      <p:pic>
        <p:nvPicPr>
          <p:cNvPr id="6" name="Image 1" descr="slides/p3_tail.png">    </p:cNvPr>
          <p:cNvPicPr>
            <a:picLocks noChangeAspect="1"/>
          </p:cNvPicPr>
          <p:nvPr/>
        </p:nvPicPr>
        <p:blipFill>
          <a:blip r:embed="rId2"/>
          <a:stretch>
            <a:fillRect/>
          </a:stretch>
        </p:blipFill>
        <p:spPr>
          <a:xfrm>
            <a:off x="6446520" y="1737360"/>
            <a:ext cx="5349240" cy="2084832"/>
          </a:xfrm>
          <a:prstGeom prst="rect">
            <a:avLst/>
          </a:prstGeom>
        </p:spPr>
      </p:pic>
      <p:sp>
        <p:nvSpPr>
          <p:cNvPr id="7" name="Text 3"/>
          <p:cNvSpPr/>
          <p:nvPr/>
        </p:nvSpPr>
        <p:spPr>
          <a:xfrm>
            <a:off x="6446520" y="3931920"/>
            <a:ext cx="5349240" cy="502920"/>
          </a:xfrm>
          <a:prstGeom prst="rect">
            <a:avLst/>
          </a:prstGeom>
          <a:noFill/>
          <a:ln/>
        </p:spPr>
        <p:txBody>
          <a:bodyPr wrap="square"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It helps most where data is thinnest, and it stops crying wolf:</a:t>
            </a:r>
            <a:endParaRPr lang="en-US" sz="1200" dirty="0"/>
          </a:p>
          <a:p>
            <a:pPr indent="0" marL="0">
              <a:buNone/>
            </a:pPr>
            <a:r>
              <a:rPr lang="en-US" sz="1200" i="1" dirty="0">
                <a:solidFill>
                  <a:srgbClr val="5A5A5A"/>
                </a:solidFill>
                <a:latin typeface="Calibri" pitchFamily="34" charset="0"/>
                <a:ea typeface="Calibri" pitchFamily="34" charset="-122"/>
                <a:cs typeface="Calibri" pitchFamily="34" charset="-120"/>
              </a:rPr>
              <a:t>false alarms in poor areas fall from 3.2x reality to 1.8x.</a:t>
            </a:r>
            <a:endParaRPr lang="en-US" sz="1200" dirty="0"/>
          </a:p>
        </p:txBody>
      </p:sp>
      <p:sp>
        <p:nvSpPr>
          <p:cNvPr id="8" name="Shape 4"/>
          <p:cNvSpPr/>
          <p:nvPr/>
        </p:nvSpPr>
        <p:spPr>
          <a:xfrm>
            <a:off x="457200" y="5120640"/>
            <a:ext cx="2651760" cy="1005840"/>
          </a:xfrm>
          <a:prstGeom prst="roundRect">
            <a:avLst>
              <a:gd name="adj" fmla="val 6364"/>
            </a:avLst>
          </a:prstGeom>
          <a:solidFill>
            <a:srgbClr val="F4F6FA"/>
          </a:solidFill>
          <a:ln w="12700">
            <a:solidFill>
              <a:srgbClr val="F4F6FA"/>
            </a:solidFill>
            <a:prstDash val="solid"/>
          </a:ln>
        </p:spPr>
      </p:sp>
      <p:sp>
        <p:nvSpPr>
          <p:cNvPr id="9" name="Text 5"/>
          <p:cNvSpPr/>
          <p:nvPr/>
        </p:nvSpPr>
        <p:spPr>
          <a:xfrm>
            <a:off x="457200" y="5202936"/>
            <a:ext cx="2651760" cy="530352"/>
          </a:xfrm>
          <a:prstGeom prst="rect">
            <a:avLst/>
          </a:prstGeom>
          <a:noFill/>
          <a:ln/>
        </p:spPr>
        <p:txBody>
          <a:bodyPr wrap="square" lIns="0" tIns="0" rIns="0" bIns="0" rtlCol="0" anchor="ctr"/>
          <a:lstStyle/>
          <a:p>
            <a:pPr algn="ctr" indent="0" marL="0">
              <a:buNone/>
            </a:pPr>
            <a:r>
              <a:rPr lang="en-US" sz="2700" b="1" dirty="0">
                <a:solidFill>
                  <a:srgbClr val="1E8449"/>
                </a:solidFill>
                <a:latin typeface="Calibri" pitchFamily="34" charset="0"/>
                <a:ea typeface="Calibri" pitchFamily="34" charset="-122"/>
                <a:cs typeface="Calibri" pitchFamily="34" charset="-120"/>
              </a:rPr>
              <a:t>53 → 71</a:t>
            </a:r>
            <a:endParaRPr lang="en-US" sz="2700" dirty="0"/>
          </a:p>
        </p:txBody>
      </p:sp>
      <p:sp>
        <p:nvSpPr>
          <p:cNvPr id="10" name="Text 6"/>
          <p:cNvSpPr/>
          <p:nvPr/>
        </p:nvSpPr>
        <p:spPr>
          <a:xfrm>
            <a:off x="457200" y="5724144"/>
            <a:ext cx="265176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overall skill</a:t>
            </a:r>
            <a:endParaRPr lang="en-US" sz="1150" dirty="0"/>
          </a:p>
        </p:txBody>
      </p:sp>
      <p:sp>
        <p:nvSpPr>
          <p:cNvPr id="11" name="Shape 7"/>
          <p:cNvSpPr/>
          <p:nvPr/>
        </p:nvSpPr>
        <p:spPr>
          <a:xfrm>
            <a:off x="3291840" y="5120640"/>
            <a:ext cx="2651760" cy="1005840"/>
          </a:xfrm>
          <a:prstGeom prst="roundRect">
            <a:avLst>
              <a:gd name="adj" fmla="val 6364"/>
            </a:avLst>
          </a:prstGeom>
          <a:solidFill>
            <a:srgbClr val="F4F6FA"/>
          </a:solidFill>
          <a:ln w="12700">
            <a:solidFill>
              <a:srgbClr val="F4F6FA"/>
            </a:solidFill>
            <a:prstDash val="solid"/>
          </a:ln>
        </p:spPr>
      </p:sp>
      <p:sp>
        <p:nvSpPr>
          <p:cNvPr id="12" name="Text 8"/>
          <p:cNvSpPr/>
          <p:nvPr/>
        </p:nvSpPr>
        <p:spPr>
          <a:xfrm>
            <a:off x="3291840" y="5202936"/>
            <a:ext cx="2651760" cy="530352"/>
          </a:xfrm>
          <a:prstGeom prst="rect">
            <a:avLst/>
          </a:prstGeom>
          <a:noFill/>
          <a:ln/>
        </p:spPr>
        <p:txBody>
          <a:bodyPr wrap="square" lIns="0" tIns="0" rIns="0" bIns="0" rtlCol="0" anchor="ctr"/>
          <a:lstStyle/>
          <a:p>
            <a:pPr algn="ctr" indent="0" marL="0">
              <a:buNone/>
            </a:pPr>
            <a:r>
              <a:rPr lang="en-US" sz="2700" b="1" dirty="0">
                <a:solidFill>
                  <a:srgbClr val="1E8449"/>
                </a:solidFill>
                <a:latin typeface="Calibri" pitchFamily="34" charset="0"/>
                <a:ea typeface="Calibri" pitchFamily="34" charset="-122"/>
                <a:cs typeface="Calibri" pitchFamily="34" charset="-120"/>
              </a:rPr>
              <a:t>51 → 58</a:t>
            </a:r>
            <a:endParaRPr lang="en-US" sz="2700" dirty="0"/>
          </a:p>
        </p:txBody>
      </p:sp>
      <p:sp>
        <p:nvSpPr>
          <p:cNvPr id="13" name="Text 9"/>
          <p:cNvSpPr/>
          <p:nvPr/>
        </p:nvSpPr>
        <p:spPr>
          <a:xfrm>
            <a:off x="3291840" y="5724144"/>
            <a:ext cx="265176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skill in poor areas</a:t>
            </a:r>
            <a:endParaRPr lang="en-US" sz="1150" dirty="0"/>
          </a:p>
        </p:txBody>
      </p:sp>
      <p:sp>
        <p:nvSpPr>
          <p:cNvPr id="14" name="Shape 10"/>
          <p:cNvSpPr/>
          <p:nvPr/>
        </p:nvSpPr>
        <p:spPr>
          <a:xfrm>
            <a:off x="6126480" y="5120640"/>
            <a:ext cx="2651760" cy="1005840"/>
          </a:xfrm>
          <a:prstGeom prst="roundRect">
            <a:avLst>
              <a:gd name="adj" fmla="val 6364"/>
            </a:avLst>
          </a:prstGeom>
          <a:solidFill>
            <a:srgbClr val="F4F6FA"/>
          </a:solidFill>
          <a:ln w="12700">
            <a:solidFill>
              <a:srgbClr val="F4F6FA"/>
            </a:solidFill>
            <a:prstDash val="solid"/>
          </a:ln>
        </p:spPr>
      </p:sp>
      <p:sp>
        <p:nvSpPr>
          <p:cNvPr id="15" name="Text 11"/>
          <p:cNvSpPr/>
          <p:nvPr/>
        </p:nvSpPr>
        <p:spPr>
          <a:xfrm>
            <a:off x="6126480" y="5202936"/>
            <a:ext cx="2651760" cy="530352"/>
          </a:xfrm>
          <a:prstGeom prst="rect">
            <a:avLst/>
          </a:prstGeom>
          <a:noFill/>
          <a:ln/>
        </p:spPr>
        <p:txBody>
          <a:bodyPr wrap="square" lIns="0" tIns="0" rIns="0" bIns="0" rtlCol="0" anchor="ctr"/>
          <a:lstStyle/>
          <a:p>
            <a:pPr algn="ctr" indent="0" marL="0">
              <a:buNone/>
            </a:pPr>
            <a:r>
              <a:rPr lang="en-US" sz="2700" b="1" dirty="0">
                <a:solidFill>
                  <a:srgbClr val="1E8449"/>
                </a:solidFill>
                <a:latin typeface="Calibri" pitchFamily="34" charset="0"/>
                <a:ea typeface="Calibri" pitchFamily="34" charset="-122"/>
                <a:cs typeface="Calibri" pitchFamily="34" charset="-120"/>
              </a:rPr>
              <a:t>3.2x → 1.8x</a:t>
            </a:r>
            <a:endParaRPr lang="en-US" sz="2700" dirty="0"/>
          </a:p>
        </p:txBody>
      </p:sp>
      <p:sp>
        <p:nvSpPr>
          <p:cNvPr id="16" name="Text 12"/>
          <p:cNvSpPr/>
          <p:nvPr/>
        </p:nvSpPr>
        <p:spPr>
          <a:xfrm>
            <a:off x="6126480" y="5724144"/>
            <a:ext cx="265176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false alarms there</a:t>
            </a:r>
            <a:endParaRPr lang="en-US" sz="1150" dirty="0"/>
          </a:p>
        </p:txBody>
      </p:sp>
      <p:sp>
        <p:nvSpPr>
          <p:cNvPr id="17" name="Shape 13"/>
          <p:cNvSpPr/>
          <p:nvPr/>
        </p:nvSpPr>
        <p:spPr>
          <a:xfrm>
            <a:off x="8961120" y="5120640"/>
            <a:ext cx="2743200" cy="1005840"/>
          </a:xfrm>
          <a:prstGeom prst="roundRect">
            <a:avLst>
              <a:gd name="adj" fmla="val 6364"/>
            </a:avLst>
          </a:prstGeom>
          <a:solidFill>
            <a:srgbClr val="F4F6FA"/>
          </a:solidFill>
          <a:ln w="12700">
            <a:solidFill>
              <a:srgbClr val="F4F6FA"/>
            </a:solidFill>
            <a:prstDash val="solid"/>
          </a:ln>
        </p:spPr>
      </p:sp>
      <p:sp>
        <p:nvSpPr>
          <p:cNvPr id="18" name="Text 14"/>
          <p:cNvSpPr/>
          <p:nvPr/>
        </p:nvSpPr>
        <p:spPr>
          <a:xfrm>
            <a:off x="8961120" y="5202936"/>
            <a:ext cx="2743200" cy="530352"/>
          </a:xfrm>
          <a:prstGeom prst="rect">
            <a:avLst/>
          </a:prstGeom>
          <a:noFill/>
          <a:ln/>
        </p:spPr>
        <p:txBody>
          <a:bodyPr wrap="square" lIns="0" tIns="0" rIns="0" bIns="0" rtlCol="0" anchor="ctr"/>
          <a:lstStyle/>
          <a:p>
            <a:pPr algn="ctr" indent="0" marL="0">
              <a:buNone/>
            </a:pPr>
            <a:r>
              <a:rPr lang="en-US" sz="2700" b="1" dirty="0">
                <a:solidFill>
                  <a:srgbClr val="1E8449"/>
                </a:solidFill>
                <a:latin typeface="Calibri" pitchFamily="34" charset="0"/>
                <a:ea typeface="Calibri" pitchFamily="34" charset="-122"/>
                <a:cs typeface="Calibri" pitchFamily="34" charset="-120"/>
              </a:rPr>
              <a:t>−23%</a:t>
            </a:r>
            <a:endParaRPr lang="en-US" sz="2700" dirty="0"/>
          </a:p>
        </p:txBody>
      </p:sp>
      <p:sp>
        <p:nvSpPr>
          <p:cNvPr id="19" name="Text 15"/>
          <p:cNvSpPr/>
          <p:nvPr/>
        </p:nvSpPr>
        <p:spPr>
          <a:xfrm>
            <a:off x="8961120" y="5724144"/>
            <a:ext cx="274320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size of errors</a:t>
            </a:r>
            <a:endParaRPr lang="en-US" sz="1150" dirty="0"/>
          </a:p>
        </p:txBody>
      </p:sp>
      <p:sp>
        <p:nvSpPr>
          <p:cNvPr id="20" name="Shape 16"/>
          <p:cNvSpPr/>
          <p:nvPr/>
        </p:nvSpPr>
        <p:spPr>
          <a:xfrm>
            <a:off x="457200" y="6272784"/>
            <a:ext cx="11247120" cy="530352"/>
          </a:xfrm>
          <a:prstGeom prst="roundRect">
            <a:avLst>
              <a:gd name="adj" fmla="val 12069"/>
            </a:avLst>
          </a:prstGeom>
          <a:solidFill>
            <a:srgbClr val="FEF9E7"/>
          </a:solidFill>
          <a:ln w="12700">
            <a:solidFill>
              <a:srgbClr val="FEF9E7"/>
            </a:solidFill>
            <a:prstDash val="solid"/>
          </a:ln>
        </p:spPr>
      </p:sp>
      <p:sp>
        <p:nvSpPr>
          <p:cNvPr id="21" name="Text 17"/>
          <p:cNvSpPr/>
          <p:nvPr/>
        </p:nvSpPr>
        <p:spPr>
          <a:xfrm>
            <a:off x="713232" y="6345936"/>
            <a:ext cx="10835640" cy="411480"/>
          </a:xfrm>
          <a:prstGeom prst="rect">
            <a:avLst/>
          </a:prstGeom>
          <a:noFill/>
          <a:ln/>
        </p:spPr>
        <p:txBody>
          <a:bodyPr wrap="square" lIns="0" tIns="0" rIns="0" bIns="0" rtlCol="0" anchor="ctr"/>
          <a:lstStyle/>
          <a:p>
            <a:pPr indent="0" marL="0">
              <a:buNone/>
            </a:pPr>
            <a:r>
              <a:rPr lang="en-US" sz="1250" b="1" dirty="0">
                <a:solidFill>
                  <a:srgbClr val="7D6608"/>
                </a:solidFill>
                <a:latin typeface="Calibri" pitchFamily="34" charset="0"/>
                <a:ea typeface="Calibri" pitchFamily="34" charset="-122"/>
                <a:cs typeface="Calibri" pitchFamily="34" charset="-120"/>
              </a:rPr>
              <a:t>Honest limit: it learned WHERE burglary happens, not WHEN — like knowing it rains a lot in London without knowing about next Tuesday.</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2026-08-21T04:38:07Z</dcterms:created>
  <dcterms:modified xsi:type="dcterms:W3CDTF">2026-08-21T04:38:07Z</dcterms:modified>
</cp:coreProperties>
</file>