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rebuilt the FedCrime paper - crime prediction across six police stations using federated learning, so no station shares its raw data. On real Los Angeles data we reproduced their results. Then we split neighbourhoods into three groups by how much crime they have. Busy areas scored 69, quiet areas 28. A 41-point gap. Our goal was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gated and attention. Top left shows actual scores with TCN as the dashed line - plain GCN collapses at 3 and 4 layers. Bottom left is zoomed in so you can see gated and attention are always in the shaded zone, below TCN, by about 1 to 4 points. Right side ranks all 24 comparisons. Plain collapses because it is forced to average with neighbours every layer and cannot stop. Gated and attention have a switch and learned to turn the graph off, so they land where TCN already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give up after one attempt. Five different approaches. Reweighting actually made it worse. Group-DRO and adaptive thresholds did nothing at any setting. Then graphs - twenty-four comparisons across three graph types, four depths and two cities, each against an equal-sized control. Twenty-two negative. Zero worked. When five reasonable methods all fail, that is telling you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why every fix failed. The F1 score gives free points where crime is common. A model with no skill at all, that just says crime every day, scores 66.7 in busy areas and 9.5 in quiet ones. So most of our 41-point gap was going to be there no matter how good the model was. We then checked six published papers - every one shows the same upward slope. Their reported scores track crime volume. This basic maths is known and we cite it; what is new is showing it is happening across this whole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part. We found a change that raised the fairness score for poor areas by 12.87 points. Our own base-rate correction said the gap had closed completely. But AUC went DOWN by 3.05, and the model went from saying crime 23 percent of the time to 80 percent. Then the decisive test: with no graph at all, just moving the decision threshold, we got a BIGGER improvement of 13.63, while AUC stayed at exactly 61.99 on all nineteen rows. So the fairness improvement was never about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contributions, strongest first. Correcting for base rates is not enough - that is the new claim. Second, published fairness gaps in this field track crime volume. Third, it changes who gets help: model selection is unaffected but remediation targeting flips for every model. Target is ACM FAccT 2027, deadline 3 November, eleven weeks away. Their call for papers asks specifically for work examining evaluation metrics. The decision I need from you is whether to build the paper around this and save the attack-defence work for a second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physics, nothing worked. Six methods, each against an identical model with the new part switched off. Reweighting made the gap worse. Group-DRO and adaptive thresholds did nothing. All three graph types came out below their controls. On the burglary data the model scored 53 out of 100 - fifty is a coin flip. We concluded the limit was in the data, not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wrote a real criminology rule into the model. The score went from 53 to 71 out of 100. Five seeds, t equals 9.6, so this is not luck. Generic smoothing scored 44.6 - worse than nothing - which proves it is the burglary equations doing the work, not just smoothing. It helped poor neighbourhoods most, 51 to 58, and cut false alarms there from 3.2 times reality to 1.8 times. Honest limit: it learned where, not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professor suggested adaptive thresholds - let the model decide the bar from the data instead of using a fixed rule. We tried two versions. Arm A said: get the best score you can in each group. It chose a higher bar for poor areas - 0.601 versus 0.425 for busy ones - so only 53 percent of real crimes in poor areas were caught, against 89 percent in busy ones. A 35.6 point gap, on data where every group was equally easy to predict. The fix caused the harm. Arm B matched false alarm rates instead and behaved correctly, but it adds no skill - it only stops us fooling ourselves. The giveaway is AUC: it moved 0.07 in all three. The model never changed. So adaptive thresholds are not a fix. They are a measuring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tested the two fairness libraries that thousands of people actually use - Fairlearn from Microsoft and AIF360 from IBM. We gave them data where we had built every group to have exactly the same skill. Only the amount of crime differed. The honest answer is: there is nothing to fix. Fairlearn reported a 52.67 point precision problem and a 23.52 point F1 problem. AUC reported 0.84 - the truth. Worse, Fairlearn’s default repair setting opened a 21 point gap in crimes caught where none existed. And IBM’s tool took wrongly flagged crime-free places in poor areas from 13.5 percent to 41.6 percent - three times more - to close a gap that was never real. We ran this five times and got the same answer on Kaggle and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one finding shown four separate ways. Graph models gained 17 points of score while actual skill went down 4. Moving a single threshold beat the entire architecture. Letting the model pick thresholds opened a 35.6 point gap. And the two libraries everyone uses do the same thing on their default settings. The score the field reports moves a long way without the model getting any better. Physics was the one ingredient in this whole project that raised real skill - plus 18.32 - which no threshold can fake. Next step is extending from two cities to eight, then writing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384048"/>
            <a:ext cx="10881360" cy="621792"/>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we started: the problem</a:t>
            </a:r>
            <a:endParaRPr lang="en-US" sz="3600" dirty="0"/>
          </a:p>
        </p:txBody>
      </p:sp>
      <p:sp>
        <p:nvSpPr>
          <p:cNvPr id="3" name="Text 1"/>
          <p:cNvSpPr/>
          <p:nvPr/>
        </p:nvSpPr>
        <p:spPr>
          <a:xfrm>
            <a:off x="640080" y="1024128"/>
            <a:ext cx="10881360" cy="347472"/>
          </a:xfrm>
          <a:prstGeom prst="rect">
            <a:avLst/>
          </a:prstGeom>
          <a:noFill/>
          <a:ln/>
        </p:spPr>
        <p:txBody>
          <a:bodyPr wrap="square"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Crime prediction for 6 police stations, trained together without sharing data (federated learning)</a:t>
            </a:r>
            <a:endParaRPr lang="en-US" sz="1450" dirty="0"/>
          </a:p>
        </p:txBody>
      </p:sp>
      <p:pic>
        <p:nvPicPr>
          <p:cNvPr id="4" name="Image 0" descr="slides/s1_gap.png">    </p:cNvPr>
          <p:cNvPicPr>
            <a:picLocks noChangeAspect="1"/>
          </p:cNvPicPr>
          <p:nvPr/>
        </p:nvPicPr>
        <p:blipFill>
          <a:blip r:embed="rId1"/>
          <a:stretch>
            <a:fillRect/>
          </a:stretch>
        </p:blipFill>
        <p:spPr>
          <a:xfrm>
            <a:off x="594360" y="1600200"/>
            <a:ext cx="5852160" cy="3017520"/>
          </a:xfrm>
          <a:prstGeom prst="rect">
            <a:avLst/>
          </a:prstGeom>
        </p:spPr>
      </p:pic>
      <p:sp>
        <p:nvSpPr>
          <p:cNvPr id="5" name="Text 2"/>
          <p:cNvSpPr/>
          <p:nvPr/>
        </p:nvSpPr>
        <p:spPr>
          <a:xfrm>
            <a:off x="594360" y="4663440"/>
            <a:ext cx="5852160" cy="320040"/>
          </a:xfrm>
          <a:prstGeom prst="rect">
            <a:avLst/>
          </a:prstGeom>
          <a:noFill/>
          <a:ln/>
        </p:spPr>
        <p:txBody>
          <a:bodyPr wrap="square" rtlCol="0" anchor="ctr"/>
          <a:lstStyle/>
          <a:p>
            <a:pPr indent="0" marL="0">
              <a:buNone/>
            </a:pPr>
            <a:r>
              <a:rPr lang="en-US" sz="1150" i="1" dirty="0">
                <a:solidFill>
                  <a:srgbClr val="CADCFC"/>
                </a:solidFill>
                <a:latin typeface="Calibri" pitchFamily="34" charset="0"/>
                <a:ea typeface="Calibri" pitchFamily="34" charset="-122"/>
                <a:cs typeface="Calibri" pitchFamily="34" charset="-120"/>
              </a:rPr>
              <a:t>Los Angeles 2018 · 113 neighbourhoods · 8 crime types · 365 days</a:t>
            </a:r>
            <a:endParaRPr lang="en-US" sz="1150" dirty="0"/>
          </a:p>
        </p:txBody>
      </p:sp>
      <p:sp>
        <p:nvSpPr>
          <p:cNvPr id="6" name="Shape 3"/>
          <p:cNvSpPr/>
          <p:nvPr/>
        </p:nvSpPr>
        <p:spPr>
          <a:xfrm>
            <a:off x="6720840" y="1600200"/>
            <a:ext cx="4937760" cy="1298448"/>
          </a:xfrm>
          <a:prstGeom prst="roundRect">
            <a:avLst>
              <a:gd name="adj" fmla="val 4930"/>
            </a:avLst>
          </a:prstGeom>
          <a:solidFill>
            <a:srgbClr val="2A3570"/>
          </a:solidFill>
          <a:ln w="12700">
            <a:solidFill>
              <a:srgbClr val="2A3570"/>
            </a:solidFill>
            <a:prstDash val="solid"/>
          </a:ln>
        </p:spPr>
      </p:sp>
      <p:sp>
        <p:nvSpPr>
          <p:cNvPr id="7" name="Text 4"/>
          <p:cNvSpPr/>
          <p:nvPr/>
        </p:nvSpPr>
        <p:spPr>
          <a:xfrm>
            <a:off x="6967728" y="1719072"/>
            <a:ext cx="4480560" cy="256032"/>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THE PROBLEM</a:t>
            </a:r>
            <a:endParaRPr lang="en-US" sz="1150" dirty="0"/>
          </a:p>
        </p:txBody>
      </p:sp>
      <p:sp>
        <p:nvSpPr>
          <p:cNvPr id="8" name="Text 5"/>
          <p:cNvSpPr/>
          <p:nvPr/>
        </p:nvSpPr>
        <p:spPr>
          <a:xfrm>
            <a:off x="6967728" y="1993392"/>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The model appeared to serve poor, low-crime neighbourhoods far worse than busy ones — a 41-point gap.</a:t>
            </a:r>
            <a:endParaRPr lang="en-US" sz="1400" dirty="0"/>
          </a:p>
        </p:txBody>
      </p:sp>
      <p:sp>
        <p:nvSpPr>
          <p:cNvPr id="9" name="Shape 6"/>
          <p:cNvSpPr/>
          <p:nvPr/>
        </p:nvSpPr>
        <p:spPr>
          <a:xfrm>
            <a:off x="6720840" y="3035808"/>
            <a:ext cx="4937760" cy="1298448"/>
          </a:xfrm>
          <a:prstGeom prst="roundRect">
            <a:avLst>
              <a:gd name="adj" fmla="val 4930"/>
            </a:avLst>
          </a:prstGeom>
          <a:solidFill>
            <a:srgbClr val="2A3570"/>
          </a:solidFill>
          <a:ln w="12700">
            <a:solidFill>
              <a:srgbClr val="2A3570"/>
            </a:solidFill>
            <a:prstDash val="solid"/>
          </a:ln>
        </p:spPr>
      </p:sp>
      <p:sp>
        <p:nvSpPr>
          <p:cNvPr id="10" name="Text 7"/>
          <p:cNvSpPr/>
          <p:nvPr/>
        </p:nvSpPr>
        <p:spPr>
          <a:xfrm>
            <a:off x="6967728" y="3154680"/>
            <a:ext cx="4480560" cy="256032"/>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WHY IT MATTERS</a:t>
            </a:r>
            <a:endParaRPr lang="en-US" sz="1150" dirty="0"/>
          </a:p>
        </p:txBody>
      </p:sp>
      <p:sp>
        <p:nvSpPr>
          <p:cNvPr id="11" name="Text 8"/>
          <p:cNvSpPr/>
          <p:nvPr/>
        </p:nvSpPr>
        <p:spPr>
          <a:xfrm>
            <a:off x="6967728" y="3429000"/>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These systems decide where police patrol. If the model fails poor areas, real people are affected.</a:t>
            </a:r>
            <a:endParaRPr lang="en-US" sz="1400" dirty="0"/>
          </a:p>
        </p:txBody>
      </p:sp>
      <p:sp>
        <p:nvSpPr>
          <p:cNvPr id="12" name="Shape 9"/>
          <p:cNvSpPr/>
          <p:nvPr/>
        </p:nvSpPr>
        <p:spPr>
          <a:xfrm>
            <a:off x="6720840" y="4471416"/>
            <a:ext cx="4937760" cy="1298448"/>
          </a:xfrm>
          <a:prstGeom prst="roundRect">
            <a:avLst>
              <a:gd name="adj" fmla="val 4930"/>
            </a:avLst>
          </a:prstGeom>
          <a:solidFill>
            <a:srgbClr val="1E8449"/>
          </a:solidFill>
          <a:ln w="12700">
            <a:solidFill>
              <a:srgbClr val="1E8449"/>
            </a:solidFill>
            <a:prstDash val="solid"/>
          </a:ln>
        </p:spPr>
      </p:sp>
      <p:sp>
        <p:nvSpPr>
          <p:cNvPr id="13" name="Text 10"/>
          <p:cNvSpPr/>
          <p:nvPr/>
        </p:nvSpPr>
        <p:spPr>
          <a:xfrm>
            <a:off x="6967728" y="4590288"/>
            <a:ext cx="4480560" cy="256032"/>
          </a:xfrm>
          <a:prstGeom prst="rect">
            <a:avLst/>
          </a:prstGeom>
          <a:noFill/>
          <a:ln/>
        </p:spPr>
        <p:txBody>
          <a:bodyPr wrap="square" lIns="0" tIns="0" rIns="0" bIns="0" rtlCol="0" anchor="ctr"/>
          <a:lstStyle/>
          <a:p>
            <a:pPr indent="0" marL="0">
              <a:buNone/>
            </a:pPr>
            <a:r>
              <a:rPr lang="en-US" sz="1150" b="1" dirty="0">
                <a:solidFill>
                  <a:srgbClr val="D4EFDF"/>
                </a:solidFill>
                <a:latin typeface="Calibri" pitchFamily="34" charset="0"/>
                <a:ea typeface="Calibri" pitchFamily="34" charset="-122"/>
                <a:cs typeface="Calibri" pitchFamily="34" charset="-120"/>
              </a:rPr>
              <a:t>OUR ORIGINAL GOAL</a:t>
            </a:r>
            <a:endParaRPr lang="en-US" sz="1150" dirty="0"/>
          </a:p>
        </p:txBody>
      </p:sp>
      <p:sp>
        <p:nvSpPr>
          <p:cNvPr id="14" name="Text 11"/>
          <p:cNvSpPr/>
          <p:nvPr/>
        </p:nvSpPr>
        <p:spPr>
          <a:xfrm>
            <a:off x="6967728" y="4864608"/>
            <a:ext cx="4480560" cy="804672"/>
          </a:xfrm>
          <a:prstGeom prst="rect">
            <a:avLst/>
          </a:prstGeom>
          <a:noFill/>
          <a:ln/>
        </p:spPr>
        <p:txBody>
          <a:bodyPr wrap="square" lIns="0" tIns="0" rIns="0" bIns="0" rtlCol="0" anchor="ctr"/>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Close this 41-point gap so the model treats rich and poor areas equally.</a:t>
            </a:r>
            <a:endParaRPr lang="en-US" sz="1400" dirty="0"/>
          </a:p>
        </p:txBody>
      </p:sp>
      <p:sp>
        <p:nvSpPr>
          <p:cNvPr id="15" name="Text 12"/>
          <p:cNvSpPr/>
          <p:nvPr/>
        </p:nvSpPr>
        <p:spPr>
          <a:xfrm>
            <a:off x="640080" y="6144768"/>
            <a:ext cx="5486400" cy="292608"/>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Gaurav Jha  ·  Project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Backup: why gated and attention are behind TCN</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Same data, shown three ways. TCN is the dashed black line — nothing gets above it.</a:t>
            </a:r>
            <a:endParaRPr lang="en-US" sz="1450" dirty="0"/>
          </a:p>
        </p:txBody>
      </p:sp>
      <p:pic>
        <p:nvPicPr>
          <p:cNvPr id="4" name="Image 0" descr="slides/g1_absolute.png">    </p:cNvPr>
          <p:cNvPicPr>
            <a:picLocks noChangeAspect="1"/>
          </p:cNvPicPr>
          <p:nvPr/>
        </p:nvPicPr>
        <p:blipFill>
          <a:blip r:embed="rId1"/>
          <a:stretch>
            <a:fillRect/>
          </a:stretch>
        </p:blipFill>
        <p:spPr>
          <a:xfrm>
            <a:off x="411480" y="1298448"/>
            <a:ext cx="6812280" cy="2532888"/>
          </a:xfrm>
          <a:prstGeom prst="rect">
            <a:avLst/>
          </a:prstGeom>
        </p:spPr>
      </p:pic>
      <p:sp>
        <p:nvSpPr>
          <p:cNvPr id="5" name="Text 2"/>
          <p:cNvSpPr/>
          <p:nvPr/>
        </p:nvSpPr>
        <p:spPr>
          <a:xfrm>
            <a:off x="411480" y="3877056"/>
            <a:ext cx="6812280" cy="384048"/>
          </a:xfrm>
          <a:prstGeom prst="rect">
            <a:avLst/>
          </a:prstGeom>
          <a:noFill/>
          <a:ln/>
        </p:spPr>
        <p:txBody>
          <a:bodyPr wrap="square" rtlCol="0" anchor="ctr"/>
          <a:lstStyle/>
          <a:p>
            <a:pPr indent="0" marL="0">
              <a:buNone/>
            </a:pPr>
            <a:r>
              <a:rPr lang="en-US" sz="1100" i="1" dirty="0">
                <a:solidFill>
                  <a:srgbClr val="5A5A5A"/>
                </a:solidFill>
                <a:latin typeface="Calibri" pitchFamily="34" charset="0"/>
                <a:ea typeface="Calibri" pitchFamily="34" charset="-122"/>
                <a:cs typeface="Calibri" pitchFamily="34" charset="-120"/>
              </a:rPr>
              <a:t>Actual scores, not differences. Plain GCN collapses at 3–4 layers. Gated and attention look close to TCN — but look closer.</a:t>
            </a:r>
            <a:endParaRPr lang="en-US" sz="1100" dirty="0"/>
          </a:p>
        </p:txBody>
      </p:sp>
      <p:pic>
        <p:nvPicPr>
          <p:cNvPr id="6" name="Image 1" descr="slides/g2_zoom.png">    </p:cNvPr>
          <p:cNvPicPr>
            <a:picLocks noChangeAspect="1"/>
          </p:cNvPicPr>
          <p:nvPr/>
        </p:nvPicPr>
        <p:blipFill>
          <a:blip r:embed="rId2"/>
          <a:stretch>
            <a:fillRect/>
          </a:stretch>
        </p:blipFill>
        <p:spPr>
          <a:xfrm>
            <a:off x="411480" y="4279392"/>
            <a:ext cx="6812280" cy="2752344"/>
          </a:xfrm>
          <a:prstGeom prst="rect">
            <a:avLst/>
          </a:prstGeom>
        </p:spPr>
      </p:pic>
      <p:pic>
        <p:nvPicPr>
          <p:cNvPr id="7" name="Image 2" descr="slides/g3_all24.png">    </p:cNvPr>
          <p:cNvPicPr>
            <a:picLocks noChangeAspect="1"/>
          </p:cNvPicPr>
          <p:nvPr/>
        </p:nvPicPr>
        <p:blipFill>
          <a:blip r:embed="rId3"/>
          <a:stretch>
            <a:fillRect/>
          </a:stretch>
        </p:blipFill>
        <p:spPr>
          <a:xfrm>
            <a:off x="7452360" y="1316736"/>
            <a:ext cx="4343400" cy="2130552"/>
          </a:xfrm>
          <a:prstGeom prst="rect">
            <a:avLst/>
          </a:prstGeom>
        </p:spPr>
      </p:pic>
      <p:sp>
        <p:nvSpPr>
          <p:cNvPr id="8" name="Shape 3"/>
          <p:cNvSpPr/>
          <p:nvPr/>
        </p:nvSpPr>
        <p:spPr>
          <a:xfrm>
            <a:off x="7452360" y="3584448"/>
            <a:ext cx="4343400" cy="1298448"/>
          </a:xfrm>
          <a:prstGeom prst="roundRect">
            <a:avLst>
              <a:gd name="adj" fmla="val 4930"/>
            </a:avLst>
          </a:prstGeom>
          <a:solidFill>
            <a:srgbClr val="F4F6FA"/>
          </a:solidFill>
          <a:ln w="12700">
            <a:solidFill>
              <a:srgbClr val="F4F6FA"/>
            </a:solidFill>
            <a:prstDash val="solid"/>
          </a:ln>
        </p:spPr>
      </p:sp>
      <p:sp>
        <p:nvSpPr>
          <p:cNvPr id="9" name="Text 4"/>
          <p:cNvSpPr/>
          <p:nvPr/>
        </p:nvSpPr>
        <p:spPr>
          <a:xfrm>
            <a:off x="7680960" y="3675888"/>
            <a:ext cx="3931920" cy="237744"/>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WHY PLAIN COLLAPSES</a:t>
            </a:r>
            <a:endParaRPr lang="en-US" sz="1100" dirty="0"/>
          </a:p>
        </p:txBody>
      </p:sp>
      <p:sp>
        <p:nvSpPr>
          <p:cNvPr id="10" name="Text 5"/>
          <p:cNvSpPr/>
          <p:nvPr/>
        </p:nvSpPr>
        <p:spPr>
          <a:xfrm>
            <a:off x="7680960" y="3913632"/>
            <a:ext cx="3931920" cy="896112"/>
          </a:xfrm>
          <a:prstGeom prst="rect">
            <a:avLst/>
          </a:prstGeom>
          <a:noFill/>
          <a:ln/>
        </p:spPr>
        <p:txBody>
          <a:bodyPr wrap="square" lIns="0" tIns="0" rIns="0" bIns="0" rtlCol="0" anchor="ctr"/>
          <a:lstStyle/>
          <a:p>
            <a:pPr indent="0" marL="0">
              <a:lnSpc>
                <a:spcPts val="1400"/>
              </a:lnSpc>
              <a:buNone/>
            </a:pPr>
            <a:r>
              <a:rPr lang="en-US" sz="1150" dirty="0">
                <a:solidFill>
                  <a:srgbClr val="222222"/>
                </a:solidFill>
                <a:latin typeface="Calibri" pitchFamily="34" charset="0"/>
                <a:ea typeface="Calibri" pitchFamily="34" charset="-122"/>
                <a:cs typeface="Calibri" pitchFamily="34" charset="-120"/>
              </a:rPr>
              <a:t>It is forced to average with neighbours at every layer and cannot stop. By 3–4 layers all areas look identical, so the model cannot tell them apart.</a:t>
            </a:r>
            <a:endParaRPr lang="en-US" sz="1150" dirty="0"/>
          </a:p>
        </p:txBody>
      </p:sp>
      <p:sp>
        <p:nvSpPr>
          <p:cNvPr id="11" name="Shape 6"/>
          <p:cNvSpPr/>
          <p:nvPr/>
        </p:nvSpPr>
        <p:spPr>
          <a:xfrm>
            <a:off x="7452360" y="4992624"/>
            <a:ext cx="4343400" cy="1298448"/>
          </a:xfrm>
          <a:prstGeom prst="roundRect">
            <a:avLst>
              <a:gd name="adj" fmla="val 4930"/>
            </a:avLst>
          </a:prstGeom>
          <a:solidFill>
            <a:srgbClr val="EAF3EC"/>
          </a:solidFill>
          <a:ln w="12700">
            <a:solidFill>
              <a:srgbClr val="EAF3EC"/>
            </a:solidFill>
            <a:prstDash val="solid"/>
          </a:ln>
        </p:spPr>
      </p:sp>
      <p:sp>
        <p:nvSpPr>
          <p:cNvPr id="12" name="Text 7"/>
          <p:cNvSpPr/>
          <p:nvPr/>
        </p:nvSpPr>
        <p:spPr>
          <a:xfrm>
            <a:off x="7680960" y="5084064"/>
            <a:ext cx="3931920" cy="237744"/>
          </a:xfrm>
          <a:prstGeom prst="rect">
            <a:avLst/>
          </a:prstGeom>
          <a:noFill/>
          <a:ln/>
        </p:spPr>
        <p:txBody>
          <a:bodyPr wrap="square" lIns="0" tIns="0" rIns="0" bIns="0"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WHY GATED / ATTENTION ARE FLAT</a:t>
            </a:r>
            <a:endParaRPr lang="en-US" sz="1100" dirty="0"/>
          </a:p>
        </p:txBody>
      </p:sp>
      <p:sp>
        <p:nvSpPr>
          <p:cNvPr id="13" name="Text 8"/>
          <p:cNvSpPr/>
          <p:nvPr/>
        </p:nvSpPr>
        <p:spPr>
          <a:xfrm>
            <a:off x="7680960" y="5321808"/>
            <a:ext cx="3931920" cy="896112"/>
          </a:xfrm>
          <a:prstGeom prst="rect">
            <a:avLst/>
          </a:prstGeom>
          <a:noFill/>
          <a:ln/>
        </p:spPr>
        <p:txBody>
          <a:bodyPr wrap="square" lIns="0" tIns="0" rIns="0" bIns="0" rtlCol="0" anchor="ctr"/>
          <a:lstStyle/>
          <a:p>
            <a:pPr indent="0" marL="0">
              <a:lnSpc>
                <a:spcPts val="1400"/>
              </a:lnSpc>
              <a:buNone/>
            </a:pPr>
            <a:r>
              <a:rPr lang="en-US" sz="1150" dirty="0">
                <a:solidFill>
                  <a:srgbClr val="222222"/>
                </a:solidFill>
                <a:latin typeface="Calibri" pitchFamily="34" charset="0"/>
                <a:ea typeface="Calibri" pitchFamily="34" charset="-122"/>
                <a:cs typeface="Calibri" pitchFamily="34" charset="-120"/>
              </a:rPr>
              <a:t>They have a switch. They learned to turn the graph almost OFF — so they end up doing what TCN already did, minus a small cost.</a:t>
            </a:r>
            <a:endParaRPr lang="en-US" sz="1150" dirty="0"/>
          </a:p>
        </p:txBody>
      </p:sp>
      <p:sp>
        <p:nvSpPr>
          <p:cNvPr id="14" name="Shape 9"/>
          <p:cNvSpPr/>
          <p:nvPr/>
        </p:nvSpPr>
        <p:spPr>
          <a:xfrm>
            <a:off x="7452360" y="6400800"/>
            <a:ext cx="4343400" cy="658368"/>
          </a:xfrm>
          <a:prstGeom prst="roundRect">
            <a:avLst>
              <a:gd name="adj" fmla="val 9722"/>
            </a:avLst>
          </a:prstGeom>
          <a:solidFill>
            <a:srgbClr val="FDF2F0"/>
          </a:solidFill>
          <a:ln w="12700">
            <a:solidFill>
              <a:srgbClr val="FDF2F0"/>
            </a:solidFill>
            <a:prstDash val="solid"/>
          </a:ln>
        </p:spPr>
      </p:sp>
      <p:sp>
        <p:nvSpPr>
          <p:cNvPr id="15" name="Text 10"/>
          <p:cNvSpPr/>
          <p:nvPr/>
        </p:nvSpPr>
        <p:spPr>
          <a:xfrm>
            <a:off x="7680960" y="6492240"/>
            <a:ext cx="3931920" cy="502920"/>
          </a:xfrm>
          <a:prstGeom prst="rect">
            <a:avLst/>
          </a:prstGeom>
          <a:noFill/>
          <a:ln/>
        </p:spPr>
        <p:txBody>
          <a:bodyPr wrap="square" lIns="0" tIns="0" rIns="0" bIns="0" rtlCol="0" anchor="ctr"/>
          <a:lstStyle/>
          <a:p>
            <a:pPr indent="0" marL="0">
              <a:buNone/>
            </a:pPr>
            <a:r>
              <a:rPr lang="en-US" sz="1200" b="1" dirty="0">
                <a:solidFill>
                  <a:srgbClr val="7B241C"/>
                </a:solidFill>
                <a:latin typeface="Calibri" pitchFamily="34" charset="0"/>
                <a:ea typeface="Calibri" pitchFamily="34" charset="-122"/>
                <a:cs typeface="Calibri" pitchFamily="34" charset="-120"/>
              </a:rPr>
              <a:t>Not one graph model beat TCN. 22 of 24 worse, 9 significantly.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How we tried to solve it</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Five serious attempts. None of them worked.</a:t>
            </a:r>
            <a:endParaRPr lang="en-US" sz="1450" dirty="0"/>
          </a:p>
        </p:txBody>
      </p:sp>
      <p:sp>
        <p:nvSpPr>
          <p:cNvPr id="4" name="Shape 2"/>
          <p:cNvSpPr/>
          <p:nvPr/>
        </p:nvSpPr>
        <p:spPr>
          <a:xfrm>
            <a:off x="548640" y="1417320"/>
            <a:ext cx="365760" cy="365760"/>
          </a:xfrm>
          <a:prstGeom prst="ellipse">
            <a:avLst/>
          </a:prstGeom>
          <a:solidFill>
            <a:srgbClr val="C0392B"/>
          </a:solidFill>
          <a:ln w="12700">
            <a:solidFill>
              <a:srgbClr val="C0392B"/>
            </a:solidFill>
            <a:prstDash val="solid"/>
          </a:ln>
        </p:spPr>
      </p:sp>
      <p:sp>
        <p:nvSpPr>
          <p:cNvPr id="5" name="Text 3"/>
          <p:cNvSpPr/>
          <p:nvPr/>
        </p:nvSpPr>
        <p:spPr>
          <a:xfrm>
            <a:off x="548640" y="1417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3716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Give poor areas more weight</a:t>
            </a:r>
            <a:endParaRPr lang="en-US" sz="1350" dirty="0"/>
          </a:p>
        </p:txBody>
      </p:sp>
      <p:sp>
        <p:nvSpPr>
          <p:cNvPr id="7" name="Text 5"/>
          <p:cNvSpPr/>
          <p:nvPr/>
        </p:nvSpPr>
        <p:spPr>
          <a:xfrm>
            <a:off x="1051560" y="16550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Standard reweighting: make the model care more about quiet areas. Gap went from 41 to 52 — WORSE.</a:t>
            </a:r>
            <a:endParaRPr lang="en-US" sz="1150" dirty="0"/>
          </a:p>
        </p:txBody>
      </p:sp>
      <p:sp>
        <p:nvSpPr>
          <p:cNvPr id="8" name="Shape 6"/>
          <p:cNvSpPr/>
          <p:nvPr/>
        </p:nvSpPr>
        <p:spPr>
          <a:xfrm>
            <a:off x="548640" y="2331720"/>
            <a:ext cx="365760" cy="365760"/>
          </a:xfrm>
          <a:prstGeom prst="ellipse">
            <a:avLst/>
          </a:prstGeom>
          <a:solidFill>
            <a:srgbClr val="B9550F"/>
          </a:solidFill>
          <a:ln w="12700">
            <a:solidFill>
              <a:srgbClr val="B9550F"/>
            </a:solidFill>
            <a:prstDash val="solid"/>
          </a:ln>
        </p:spPr>
      </p:sp>
      <p:sp>
        <p:nvSpPr>
          <p:cNvPr id="9" name="Text 7"/>
          <p:cNvSpPr/>
          <p:nvPr/>
        </p:nvSpPr>
        <p:spPr>
          <a:xfrm>
            <a:off x="548640" y="2331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22860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Group-DRO</a:t>
            </a:r>
            <a:endParaRPr lang="en-US" sz="1350" dirty="0"/>
          </a:p>
        </p:txBody>
      </p:sp>
      <p:sp>
        <p:nvSpPr>
          <p:cNvPr id="11" name="Text 9"/>
          <p:cNvSpPr/>
          <p:nvPr/>
        </p:nvSpPr>
        <p:spPr>
          <a:xfrm>
            <a:off x="1051560" y="25694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Optimise for the worst-performing group. Tried three strength settings. Gap stayed at 41.</a:t>
            </a:r>
            <a:endParaRPr lang="en-US" sz="1150" dirty="0"/>
          </a:p>
        </p:txBody>
      </p:sp>
      <p:sp>
        <p:nvSpPr>
          <p:cNvPr id="12" name="Shape 10"/>
          <p:cNvSpPr/>
          <p:nvPr/>
        </p:nvSpPr>
        <p:spPr>
          <a:xfrm>
            <a:off x="548640" y="3246120"/>
            <a:ext cx="365760" cy="365760"/>
          </a:xfrm>
          <a:prstGeom prst="ellipse">
            <a:avLst/>
          </a:prstGeom>
          <a:solidFill>
            <a:srgbClr val="B9550F"/>
          </a:solidFill>
          <a:ln w="12700">
            <a:solidFill>
              <a:srgbClr val="B9550F"/>
            </a:solidFill>
            <a:prstDash val="solid"/>
          </a:ln>
        </p:spPr>
      </p:sp>
      <p:sp>
        <p:nvSpPr>
          <p:cNvPr id="13" name="Text 11"/>
          <p:cNvSpPr/>
          <p:nvPr/>
        </p:nvSpPr>
        <p:spPr>
          <a:xfrm>
            <a:off x="548640" y="32461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32004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Adaptive thresholds</a:t>
            </a:r>
            <a:endParaRPr lang="en-US" sz="1350" dirty="0"/>
          </a:p>
        </p:txBody>
      </p:sp>
      <p:sp>
        <p:nvSpPr>
          <p:cNvPr id="15" name="Text 13"/>
          <p:cNvSpPr/>
          <p:nvPr/>
        </p:nvSpPr>
        <p:spPr>
          <a:xfrm>
            <a:off x="1051560" y="34838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A different decision cut-off per area and crime type. Improved to 41, then stopped.</a:t>
            </a:r>
            <a:endParaRPr lang="en-US" sz="1150" dirty="0"/>
          </a:p>
        </p:txBody>
      </p:sp>
      <p:sp>
        <p:nvSpPr>
          <p:cNvPr id="16" name="Shape 14"/>
          <p:cNvSpPr/>
          <p:nvPr/>
        </p:nvSpPr>
        <p:spPr>
          <a:xfrm>
            <a:off x="548640" y="4160520"/>
            <a:ext cx="365760" cy="365760"/>
          </a:xfrm>
          <a:prstGeom prst="ellipse">
            <a:avLst/>
          </a:prstGeom>
          <a:solidFill>
            <a:srgbClr val="C0392B"/>
          </a:solidFill>
          <a:ln w="12700">
            <a:solidFill>
              <a:srgbClr val="C0392B"/>
            </a:solidFill>
            <a:prstDash val="solid"/>
          </a:ln>
        </p:spPr>
      </p:sp>
      <p:sp>
        <p:nvSpPr>
          <p:cNvPr id="17" name="Text 15"/>
          <p:cNvSpPr/>
          <p:nvPr/>
        </p:nvSpPr>
        <p:spPr>
          <a:xfrm>
            <a:off x="548640" y="41605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051560" y="41148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Add a graph (GNN)</a:t>
            </a:r>
            <a:endParaRPr lang="en-US" sz="1350" dirty="0"/>
          </a:p>
        </p:txBody>
      </p:sp>
      <p:sp>
        <p:nvSpPr>
          <p:cNvPr id="19" name="Text 17"/>
          <p:cNvSpPr/>
          <p:nvPr/>
        </p:nvSpPr>
        <p:spPr>
          <a:xfrm>
            <a:off x="1051560" y="43982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Let neighbouring areas share information. 3 types × 4 depths × 2 cities.</a:t>
            </a:r>
            <a:endParaRPr lang="en-US" sz="1150" dirty="0"/>
          </a:p>
        </p:txBody>
      </p:sp>
      <p:sp>
        <p:nvSpPr>
          <p:cNvPr id="20" name="Shape 18"/>
          <p:cNvSpPr/>
          <p:nvPr/>
        </p:nvSpPr>
        <p:spPr>
          <a:xfrm>
            <a:off x="548640" y="5074920"/>
            <a:ext cx="365760" cy="365760"/>
          </a:xfrm>
          <a:prstGeom prst="ellipse">
            <a:avLst/>
          </a:prstGeom>
          <a:solidFill>
            <a:srgbClr val="C0392B"/>
          </a:solidFill>
          <a:ln w="12700">
            <a:solidFill>
              <a:srgbClr val="C0392B"/>
            </a:solidFill>
            <a:prstDash val="solid"/>
          </a:ln>
        </p:spPr>
      </p:sp>
      <p:sp>
        <p:nvSpPr>
          <p:cNvPr id="21" name="Text 19"/>
          <p:cNvSpPr/>
          <p:nvPr/>
        </p:nvSpPr>
        <p:spPr>
          <a:xfrm>
            <a:off x="548640" y="5074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051560" y="5029200"/>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Gated + attention graphs</a:t>
            </a:r>
            <a:endParaRPr lang="en-US" sz="1350" dirty="0"/>
          </a:p>
        </p:txBody>
      </p:sp>
      <p:sp>
        <p:nvSpPr>
          <p:cNvPr id="23" name="Text 21"/>
          <p:cNvSpPr/>
          <p:nvPr/>
        </p:nvSpPr>
        <p:spPr>
          <a:xfrm>
            <a:off x="1051560" y="5312664"/>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The versions designed to fix over-smoothing. Also negative.</a:t>
            </a:r>
            <a:endParaRPr lang="en-US" sz="1150" dirty="0"/>
          </a:p>
        </p:txBody>
      </p:sp>
      <p:sp>
        <p:nvSpPr>
          <p:cNvPr id="24" name="Text 22"/>
          <p:cNvSpPr/>
          <p:nvPr/>
        </p:nvSpPr>
        <p:spPr>
          <a:xfrm>
            <a:off x="6126480" y="4005072"/>
            <a:ext cx="5577840" cy="420624"/>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24 graph comparisons, each against an equal-sized model with no graph. 22 came out negative.</a:t>
            </a:r>
            <a:endParaRPr lang="en-US" sz="1200" dirty="0"/>
          </a:p>
        </p:txBody>
      </p:sp>
      <p:sp>
        <p:nvSpPr>
          <p:cNvPr id="25" name="Shape 23"/>
          <p:cNvSpPr/>
          <p:nvPr/>
        </p:nvSpPr>
        <p:spPr>
          <a:xfrm>
            <a:off x="6126480" y="4553712"/>
            <a:ext cx="1783080" cy="1005840"/>
          </a:xfrm>
          <a:prstGeom prst="roundRect">
            <a:avLst>
              <a:gd name="adj" fmla="val 6364"/>
            </a:avLst>
          </a:prstGeom>
          <a:solidFill>
            <a:srgbClr val="F4F6FA"/>
          </a:solidFill>
          <a:ln w="12700">
            <a:solidFill>
              <a:srgbClr val="F4F6FA"/>
            </a:solidFill>
            <a:prstDash val="solid"/>
          </a:ln>
        </p:spPr>
      </p:sp>
      <p:sp>
        <p:nvSpPr>
          <p:cNvPr id="26" name="Text 24"/>
          <p:cNvSpPr/>
          <p:nvPr/>
        </p:nvSpPr>
        <p:spPr>
          <a:xfrm>
            <a:off x="6126480" y="4636008"/>
            <a:ext cx="178308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24</a:t>
            </a:r>
            <a:endParaRPr lang="en-US" sz="2700" dirty="0"/>
          </a:p>
        </p:txBody>
      </p:sp>
      <p:sp>
        <p:nvSpPr>
          <p:cNvPr id="27" name="Text 25"/>
          <p:cNvSpPr/>
          <p:nvPr/>
        </p:nvSpPr>
        <p:spPr>
          <a:xfrm>
            <a:off x="6126480" y="5157216"/>
            <a:ext cx="17830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tests run</a:t>
            </a:r>
            <a:endParaRPr lang="en-US" sz="1150" dirty="0"/>
          </a:p>
        </p:txBody>
      </p:sp>
      <p:sp>
        <p:nvSpPr>
          <p:cNvPr id="28" name="Shape 26"/>
          <p:cNvSpPr/>
          <p:nvPr/>
        </p:nvSpPr>
        <p:spPr>
          <a:xfrm>
            <a:off x="8028432" y="4553712"/>
            <a:ext cx="1783080" cy="1005840"/>
          </a:xfrm>
          <a:prstGeom prst="roundRect">
            <a:avLst>
              <a:gd name="adj" fmla="val 6364"/>
            </a:avLst>
          </a:prstGeom>
          <a:solidFill>
            <a:srgbClr val="F4F6FA"/>
          </a:solidFill>
          <a:ln w="12700">
            <a:solidFill>
              <a:srgbClr val="F4F6FA"/>
            </a:solidFill>
            <a:prstDash val="solid"/>
          </a:ln>
        </p:spPr>
      </p:sp>
      <p:sp>
        <p:nvSpPr>
          <p:cNvPr id="29" name="Text 27"/>
          <p:cNvSpPr/>
          <p:nvPr/>
        </p:nvSpPr>
        <p:spPr>
          <a:xfrm>
            <a:off x="8028432" y="4636008"/>
            <a:ext cx="1783080"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22</a:t>
            </a:r>
            <a:endParaRPr lang="en-US" sz="2700" dirty="0"/>
          </a:p>
        </p:txBody>
      </p:sp>
      <p:sp>
        <p:nvSpPr>
          <p:cNvPr id="30" name="Text 28"/>
          <p:cNvSpPr/>
          <p:nvPr/>
        </p:nvSpPr>
        <p:spPr>
          <a:xfrm>
            <a:off x="8028432" y="5157216"/>
            <a:ext cx="17830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negative</a:t>
            </a:r>
            <a:endParaRPr lang="en-US" sz="1150" dirty="0"/>
          </a:p>
        </p:txBody>
      </p:sp>
      <p:sp>
        <p:nvSpPr>
          <p:cNvPr id="31" name="Shape 29"/>
          <p:cNvSpPr/>
          <p:nvPr/>
        </p:nvSpPr>
        <p:spPr>
          <a:xfrm>
            <a:off x="9930384" y="4553712"/>
            <a:ext cx="1773936" cy="1005840"/>
          </a:xfrm>
          <a:prstGeom prst="roundRect">
            <a:avLst>
              <a:gd name="adj" fmla="val 6364"/>
            </a:avLst>
          </a:prstGeom>
          <a:solidFill>
            <a:srgbClr val="F4F6FA"/>
          </a:solidFill>
          <a:ln w="12700">
            <a:solidFill>
              <a:srgbClr val="F4F6FA"/>
            </a:solidFill>
            <a:prstDash val="solid"/>
          </a:ln>
        </p:spPr>
      </p:sp>
      <p:sp>
        <p:nvSpPr>
          <p:cNvPr id="32" name="Text 30"/>
          <p:cNvSpPr/>
          <p:nvPr/>
        </p:nvSpPr>
        <p:spPr>
          <a:xfrm>
            <a:off x="9930384" y="4636008"/>
            <a:ext cx="1773936"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0</a:t>
            </a:r>
            <a:endParaRPr lang="en-US" sz="2700" dirty="0"/>
          </a:p>
        </p:txBody>
      </p:sp>
      <p:sp>
        <p:nvSpPr>
          <p:cNvPr id="33" name="Text 31"/>
          <p:cNvSpPr/>
          <p:nvPr/>
        </p:nvSpPr>
        <p:spPr>
          <a:xfrm>
            <a:off x="9930384" y="5157216"/>
            <a:ext cx="1773936"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worked</a:t>
            </a:r>
            <a:endParaRPr lang="en-US" sz="1150" dirty="0"/>
          </a:p>
        </p:txBody>
      </p:sp>
      <p:sp>
        <p:nvSpPr>
          <p:cNvPr id="34" name="Shape 32"/>
          <p:cNvSpPr/>
          <p:nvPr/>
        </p:nvSpPr>
        <p:spPr>
          <a:xfrm>
            <a:off x="6126480" y="5742432"/>
            <a:ext cx="5577840" cy="841248"/>
          </a:xfrm>
          <a:prstGeom prst="roundRect">
            <a:avLst>
              <a:gd name="adj" fmla="val 7609"/>
            </a:avLst>
          </a:prstGeom>
          <a:solidFill>
            <a:srgbClr val="FDF2F0"/>
          </a:solidFill>
          <a:ln w="12700">
            <a:solidFill>
              <a:srgbClr val="FDF2F0"/>
            </a:solidFill>
            <a:prstDash val="solid"/>
          </a:ln>
        </p:spPr>
      </p:sp>
      <p:sp>
        <p:nvSpPr>
          <p:cNvPr id="35" name="Text 33"/>
          <p:cNvSpPr/>
          <p:nvPr/>
        </p:nvSpPr>
        <p:spPr>
          <a:xfrm>
            <a:off x="6355080" y="5870448"/>
            <a:ext cx="5166360" cy="621792"/>
          </a:xfrm>
          <a:prstGeom prst="rect">
            <a:avLst/>
          </a:prstGeom>
          <a:noFill/>
          <a:ln/>
        </p:spPr>
        <p:txBody>
          <a:bodyPr wrap="square" lIns="0" tIns="0" rIns="0" bIns="0" rtlCol="0" anchor="ctr"/>
          <a:lstStyle/>
          <a:p>
            <a:pPr indent="0" marL="0">
              <a:lnSpc>
                <a:spcPts val="1700"/>
              </a:lnSpc>
              <a:buNone/>
            </a:pPr>
            <a:r>
              <a:rPr lang="en-US" sz="1300" b="1" dirty="0">
                <a:solidFill>
                  <a:srgbClr val="7B241C"/>
                </a:solidFill>
                <a:latin typeface="Calibri" pitchFamily="34" charset="0"/>
                <a:ea typeface="Calibri" pitchFamily="34" charset="-122"/>
                <a:cs typeface="Calibri" pitchFamily="34" charset="-120"/>
              </a:rPr>
              <a:t>Five reasonable methods all failing was the clue: the problem was not what we assumed it was.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Why nothing worked: the gap is largely not real</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The F1 score gives free points where crime is common</a:t>
            </a:r>
            <a:endParaRPr lang="en-US" sz="1450" dirty="0"/>
          </a:p>
        </p:txBody>
      </p:sp>
      <p:pic>
        <p:nvPicPr>
          <p:cNvPr id="4" name="Image 0" descr="slides/s3_free.png">    </p:cNvPr>
          <p:cNvPicPr>
            <a:picLocks noChangeAspect="1"/>
          </p:cNvPicPr>
          <p:nvPr/>
        </p:nvPicPr>
        <p:blipFill>
          <a:blip r:embed="rId1"/>
          <a:stretch>
            <a:fillRect/>
          </a:stretch>
        </p:blipFill>
        <p:spPr>
          <a:xfrm>
            <a:off x="502920" y="1417320"/>
            <a:ext cx="5623560" cy="2898648"/>
          </a:xfrm>
          <a:prstGeom prst="rect">
            <a:avLst/>
          </a:prstGeom>
        </p:spPr>
      </p:pic>
      <p:sp>
        <p:nvSpPr>
          <p:cNvPr id="5" name="Shape 2"/>
          <p:cNvSpPr/>
          <p:nvPr/>
        </p:nvSpPr>
        <p:spPr>
          <a:xfrm>
            <a:off x="502920" y="4407408"/>
            <a:ext cx="5623560" cy="1188720"/>
          </a:xfrm>
          <a:prstGeom prst="roundRect">
            <a:avLst>
              <a:gd name="adj" fmla="val 5385"/>
            </a:avLst>
          </a:prstGeom>
          <a:solidFill>
            <a:srgbClr val="F4F6FA"/>
          </a:solidFill>
          <a:ln w="12700">
            <a:solidFill>
              <a:srgbClr val="F4F6FA"/>
            </a:solidFill>
            <a:prstDash val="solid"/>
          </a:ln>
        </p:spPr>
      </p:sp>
      <p:sp>
        <p:nvSpPr>
          <p:cNvPr id="6" name="Text 3"/>
          <p:cNvSpPr/>
          <p:nvPr/>
        </p:nvSpPr>
        <p:spPr>
          <a:xfrm>
            <a:off x="749808" y="4535424"/>
            <a:ext cx="5166360" cy="960120"/>
          </a:xfrm>
          <a:prstGeom prst="rect">
            <a:avLst/>
          </a:prstGeom>
          <a:noFill/>
          <a:ln/>
        </p:spPr>
        <p:txBody>
          <a:bodyPr wrap="square" lIns="0" tIns="0" rIns="0" bIns="0" rtlCol="0" anchor="ctr"/>
          <a:lstStyle/>
          <a:p>
            <a:pPr indent="0" marL="0">
              <a:lnSpc>
                <a:spcPts val="1600"/>
              </a:lnSpc>
              <a:buNone/>
            </a:pPr>
            <a:r>
              <a:rPr lang="en-US" sz="1250" dirty="0">
                <a:solidFill>
                  <a:srgbClr val="222222"/>
                </a:solidFill>
                <a:latin typeface="Calibri" pitchFamily="34" charset="0"/>
                <a:ea typeface="Calibri" pitchFamily="34" charset="-122"/>
                <a:cs typeface="Calibri" pitchFamily="34" charset="-120"/>
              </a:rPr>
              <a:t>A model with ZERO skill — one that just says "crime" every single day — scores 66.7 in a busy area and 9.5 in a quiet one. That is a 57-point "fairness gap" from a model that never looks at the data.</a:t>
            </a:r>
            <a:endParaRPr lang="en-US" sz="1250" dirty="0"/>
          </a:p>
        </p:txBody>
      </p:sp>
      <p:pic>
        <p:nvPicPr>
          <p:cNvPr id="7" name="Image 1" descr="slides/s3_lit.png">    </p:cNvPr>
          <p:cNvPicPr>
            <a:picLocks noChangeAspect="1"/>
          </p:cNvPicPr>
          <p:nvPr/>
        </p:nvPicPr>
        <p:blipFill>
          <a:blip r:embed="rId2"/>
          <a:stretch>
            <a:fillRect/>
          </a:stretch>
        </p:blipFill>
        <p:spPr>
          <a:xfrm>
            <a:off x="6355080" y="1417320"/>
            <a:ext cx="5349240" cy="2761488"/>
          </a:xfrm>
          <a:prstGeom prst="rect">
            <a:avLst/>
          </a:prstGeom>
        </p:spPr>
      </p:pic>
      <p:sp>
        <p:nvSpPr>
          <p:cNvPr id="8" name="Text 4"/>
          <p:cNvSpPr/>
          <p:nvPr/>
        </p:nvSpPr>
        <p:spPr>
          <a:xfrm>
            <a:off x="6355080" y="4224528"/>
            <a:ext cx="5349240" cy="420624"/>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6 published papers. Every line slopes upward — their scores track crime volume, not model quality.</a:t>
            </a:r>
            <a:endParaRPr lang="en-US" sz="1200" dirty="0"/>
          </a:p>
        </p:txBody>
      </p:sp>
      <p:sp>
        <p:nvSpPr>
          <p:cNvPr id="9" name="Shape 5"/>
          <p:cNvSpPr/>
          <p:nvPr/>
        </p:nvSpPr>
        <p:spPr>
          <a:xfrm>
            <a:off x="6355080" y="4718304"/>
            <a:ext cx="1691640" cy="1005840"/>
          </a:xfrm>
          <a:prstGeom prst="roundRect">
            <a:avLst>
              <a:gd name="adj" fmla="val 6364"/>
            </a:avLst>
          </a:prstGeom>
          <a:solidFill>
            <a:srgbClr val="F4F6FA"/>
          </a:solidFill>
          <a:ln w="12700">
            <a:solidFill>
              <a:srgbClr val="F4F6FA"/>
            </a:solidFill>
            <a:prstDash val="solid"/>
          </a:ln>
        </p:spPr>
      </p:sp>
      <p:sp>
        <p:nvSpPr>
          <p:cNvPr id="10" name="Text 6"/>
          <p:cNvSpPr/>
          <p:nvPr/>
        </p:nvSpPr>
        <p:spPr>
          <a:xfrm>
            <a:off x="6355080" y="4800600"/>
            <a:ext cx="169164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0.87</a:t>
            </a:r>
            <a:endParaRPr lang="en-US" sz="2700" dirty="0"/>
          </a:p>
        </p:txBody>
      </p:sp>
      <p:sp>
        <p:nvSpPr>
          <p:cNvPr id="11" name="Text 7"/>
          <p:cNvSpPr/>
          <p:nvPr/>
        </p:nvSpPr>
        <p:spPr>
          <a:xfrm>
            <a:off x="63550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correlation</a:t>
            </a:r>
            <a:endParaRPr lang="en-US" sz="1150" dirty="0"/>
          </a:p>
        </p:txBody>
      </p:sp>
      <p:sp>
        <p:nvSpPr>
          <p:cNvPr id="12" name="Shape 8"/>
          <p:cNvSpPr/>
          <p:nvPr/>
        </p:nvSpPr>
        <p:spPr>
          <a:xfrm>
            <a:off x="8183880" y="4718304"/>
            <a:ext cx="1691640" cy="1005840"/>
          </a:xfrm>
          <a:prstGeom prst="roundRect">
            <a:avLst>
              <a:gd name="adj" fmla="val 6364"/>
            </a:avLst>
          </a:prstGeom>
          <a:solidFill>
            <a:srgbClr val="F4F6FA"/>
          </a:solidFill>
          <a:ln w="12700">
            <a:solidFill>
              <a:srgbClr val="F4F6FA"/>
            </a:solidFill>
            <a:prstDash val="solid"/>
          </a:ln>
        </p:spPr>
      </p:sp>
      <p:sp>
        <p:nvSpPr>
          <p:cNvPr id="13" name="Text 9"/>
          <p:cNvSpPr/>
          <p:nvPr/>
        </p:nvSpPr>
        <p:spPr>
          <a:xfrm>
            <a:off x="8183880" y="4800600"/>
            <a:ext cx="169164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4 cities</a:t>
            </a:r>
            <a:endParaRPr lang="en-US" sz="2700" dirty="0"/>
          </a:p>
        </p:txBody>
      </p:sp>
      <p:sp>
        <p:nvSpPr>
          <p:cNvPr id="14" name="Text 10"/>
          <p:cNvSpPr/>
          <p:nvPr/>
        </p:nvSpPr>
        <p:spPr>
          <a:xfrm>
            <a:off x="81838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same pattern</a:t>
            </a:r>
            <a:endParaRPr lang="en-US" sz="1150" dirty="0"/>
          </a:p>
        </p:txBody>
      </p:sp>
      <p:sp>
        <p:nvSpPr>
          <p:cNvPr id="15" name="Shape 11"/>
          <p:cNvSpPr/>
          <p:nvPr/>
        </p:nvSpPr>
        <p:spPr>
          <a:xfrm>
            <a:off x="10012680" y="4718304"/>
            <a:ext cx="1691640" cy="1005840"/>
          </a:xfrm>
          <a:prstGeom prst="roundRect">
            <a:avLst>
              <a:gd name="adj" fmla="val 6364"/>
            </a:avLst>
          </a:prstGeom>
          <a:solidFill>
            <a:srgbClr val="F4F6FA"/>
          </a:solidFill>
          <a:ln w="12700">
            <a:solidFill>
              <a:srgbClr val="F4F6FA"/>
            </a:solidFill>
            <a:prstDash val="solid"/>
          </a:ln>
        </p:spPr>
      </p:sp>
      <p:sp>
        <p:nvSpPr>
          <p:cNvPr id="16" name="Text 12"/>
          <p:cNvSpPr/>
          <p:nvPr/>
        </p:nvSpPr>
        <p:spPr>
          <a:xfrm>
            <a:off x="10012680" y="4800600"/>
            <a:ext cx="169164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1.3e-5</a:t>
            </a:r>
            <a:endParaRPr lang="en-US" sz="2700" dirty="0"/>
          </a:p>
        </p:txBody>
      </p:sp>
      <p:sp>
        <p:nvSpPr>
          <p:cNvPr id="17" name="Text 13"/>
          <p:cNvSpPr/>
          <p:nvPr/>
        </p:nvSpPr>
        <p:spPr>
          <a:xfrm>
            <a:off x="10012680" y="5321808"/>
            <a:ext cx="16916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p-value</a:t>
            </a:r>
            <a:endParaRPr lang="en-US" sz="1150" dirty="0"/>
          </a:p>
        </p:txBody>
      </p:sp>
      <p:sp>
        <p:nvSpPr>
          <p:cNvPr id="18" name="Shape 14"/>
          <p:cNvSpPr/>
          <p:nvPr/>
        </p:nvSpPr>
        <p:spPr>
          <a:xfrm>
            <a:off x="6355080" y="5870448"/>
            <a:ext cx="5349240" cy="731520"/>
          </a:xfrm>
          <a:prstGeom prst="roundRect">
            <a:avLst>
              <a:gd name="adj" fmla="val 8750"/>
            </a:avLst>
          </a:prstGeom>
          <a:solidFill>
            <a:srgbClr val="EAF3EC"/>
          </a:solidFill>
          <a:ln w="12700">
            <a:solidFill>
              <a:srgbClr val="EAF3EC"/>
            </a:solidFill>
            <a:prstDash val="solid"/>
          </a:ln>
        </p:spPr>
      </p:sp>
      <p:sp>
        <p:nvSpPr>
          <p:cNvPr id="19" name="Text 15"/>
          <p:cNvSpPr/>
          <p:nvPr/>
        </p:nvSpPr>
        <p:spPr>
          <a:xfrm>
            <a:off x="6583680" y="5980176"/>
            <a:ext cx="4937760" cy="548640"/>
          </a:xfrm>
          <a:prstGeom prst="rect">
            <a:avLst/>
          </a:prstGeom>
          <a:noFill/>
          <a:ln/>
        </p:spPr>
        <p:txBody>
          <a:bodyPr wrap="square" lIns="0" tIns="0" rIns="0" bIns="0" rtlCol="0" anchor="ctr"/>
          <a:lstStyle/>
          <a:p>
            <a:pPr indent="0" marL="0">
              <a:lnSpc>
                <a:spcPts val="1500"/>
              </a:lnSpc>
              <a:buNone/>
            </a:pPr>
            <a:r>
              <a:rPr lang="en-US" sz="1200" dirty="0">
                <a:solidFill>
                  <a:srgbClr val="145A32"/>
                </a:solidFill>
                <a:latin typeface="Calibri" pitchFamily="34" charset="0"/>
                <a:ea typeface="Calibri" pitchFamily="34" charset="-122"/>
                <a:cs typeface="Calibri" pitchFamily="34" charset="-120"/>
              </a:rPr>
              <a:t>This part of the maths is known (Davis 2006, Chouldechova 2017). We cite it — we do not claim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we found that is new</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Correcting for the free points is NOT enough — a model can still fake a fairness win</a:t>
            </a:r>
            <a:endParaRPr lang="en-US" sz="1450" dirty="0"/>
          </a:p>
        </p:txBody>
      </p:sp>
      <p:pic>
        <p:nvPicPr>
          <p:cNvPr id="4" name="Image 0" descr="slides/s3_finding.png">    </p:cNvPr>
          <p:cNvPicPr>
            <a:picLocks noChangeAspect="1"/>
          </p:cNvPicPr>
          <p:nvPr/>
        </p:nvPicPr>
        <p:blipFill>
          <a:blip r:embed="rId1"/>
          <a:stretch>
            <a:fillRect/>
          </a:stretch>
        </p:blipFill>
        <p:spPr>
          <a:xfrm>
            <a:off x="457200" y="1371600"/>
            <a:ext cx="5577840" cy="2825496"/>
          </a:xfrm>
          <a:prstGeom prst="rect">
            <a:avLst/>
          </a:prstGeom>
        </p:spPr>
      </p:pic>
      <p:sp>
        <p:nvSpPr>
          <p:cNvPr id="5" name="Text 2"/>
          <p:cNvSpPr/>
          <p:nvPr/>
        </p:nvSpPr>
        <p:spPr>
          <a:xfrm>
            <a:off x="457200" y="4242816"/>
            <a:ext cx="557784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Chicago. The graph model looks 12.87 better on the usual score — but AUC, which cannot be fooled, is 3.05 WORSE.</a:t>
            </a:r>
            <a:endParaRPr lang="en-US" sz="1200" dirty="0"/>
          </a:p>
        </p:txBody>
      </p:sp>
      <p:pic>
        <p:nvPicPr>
          <p:cNvPr id="6" name="Image 1" descr="slides/s3_threshold.png">    </p:cNvPr>
          <p:cNvPicPr>
            <a:picLocks noChangeAspect="1"/>
          </p:cNvPicPr>
          <p:nvPr/>
        </p:nvPicPr>
        <p:blipFill>
          <a:blip r:embed="rId2"/>
          <a:stretch>
            <a:fillRect/>
          </a:stretch>
        </p:blipFill>
        <p:spPr>
          <a:xfrm>
            <a:off x="6263640" y="1371600"/>
            <a:ext cx="5440680" cy="2761488"/>
          </a:xfrm>
          <a:prstGeom prst="rect">
            <a:avLst/>
          </a:prstGeom>
        </p:spPr>
      </p:pic>
      <p:sp>
        <p:nvSpPr>
          <p:cNvPr id="7" name="Text 3"/>
          <p:cNvSpPr/>
          <p:nvPr/>
        </p:nvSpPr>
        <p:spPr>
          <a:xfrm>
            <a:off x="6263640" y="4187952"/>
            <a:ext cx="544068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Then with NO graph at all — moving one setting — we beat it, with AUC identical at 61.99 on every row.</a:t>
            </a:r>
            <a:endParaRPr lang="en-US" sz="1200" dirty="0"/>
          </a:p>
        </p:txBody>
      </p:sp>
      <p:sp>
        <p:nvSpPr>
          <p:cNvPr id="8" name="Shape 4"/>
          <p:cNvSpPr/>
          <p:nvPr/>
        </p:nvSpPr>
        <p:spPr>
          <a:xfrm>
            <a:off x="457200" y="4773168"/>
            <a:ext cx="2651760" cy="1005840"/>
          </a:xfrm>
          <a:prstGeom prst="roundRect">
            <a:avLst>
              <a:gd name="adj" fmla="val 6364"/>
            </a:avLst>
          </a:prstGeom>
          <a:solidFill>
            <a:srgbClr val="F4F6FA"/>
          </a:solidFill>
          <a:ln w="12700">
            <a:solidFill>
              <a:srgbClr val="F4F6FA"/>
            </a:solidFill>
            <a:prstDash val="solid"/>
          </a:ln>
        </p:spPr>
      </p:sp>
      <p:sp>
        <p:nvSpPr>
          <p:cNvPr id="9" name="Text 5"/>
          <p:cNvSpPr/>
          <p:nvPr/>
        </p:nvSpPr>
        <p:spPr>
          <a:xfrm>
            <a:off x="457200" y="4855464"/>
            <a:ext cx="265176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+12.87</a:t>
            </a:r>
            <a:endParaRPr lang="en-US" sz="2700" dirty="0"/>
          </a:p>
        </p:txBody>
      </p:sp>
      <p:sp>
        <p:nvSpPr>
          <p:cNvPr id="10" name="Text 6"/>
          <p:cNvSpPr/>
          <p:nvPr/>
        </p:nvSpPr>
        <p:spPr>
          <a:xfrm>
            <a:off x="457200" y="5376672"/>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the graph model gave</a:t>
            </a:r>
            <a:endParaRPr lang="en-US" sz="1150" dirty="0"/>
          </a:p>
        </p:txBody>
      </p:sp>
      <p:sp>
        <p:nvSpPr>
          <p:cNvPr id="11" name="Shape 7"/>
          <p:cNvSpPr/>
          <p:nvPr/>
        </p:nvSpPr>
        <p:spPr>
          <a:xfrm>
            <a:off x="3291840" y="4773168"/>
            <a:ext cx="2651760" cy="1005840"/>
          </a:xfrm>
          <a:prstGeom prst="roundRect">
            <a:avLst>
              <a:gd name="adj" fmla="val 6364"/>
            </a:avLst>
          </a:prstGeom>
          <a:solidFill>
            <a:srgbClr val="F4F6FA"/>
          </a:solidFill>
          <a:ln w="12700">
            <a:solidFill>
              <a:srgbClr val="F4F6FA"/>
            </a:solidFill>
            <a:prstDash val="solid"/>
          </a:ln>
        </p:spPr>
      </p:sp>
      <p:sp>
        <p:nvSpPr>
          <p:cNvPr id="12" name="Text 8"/>
          <p:cNvSpPr/>
          <p:nvPr/>
        </p:nvSpPr>
        <p:spPr>
          <a:xfrm>
            <a:off x="3291840" y="4855464"/>
            <a:ext cx="2651760" cy="530352"/>
          </a:xfrm>
          <a:prstGeom prst="rect">
            <a:avLst/>
          </a:prstGeom>
          <a:noFill/>
          <a:ln/>
        </p:spPr>
        <p:txBody>
          <a:bodyPr wrap="square" lIns="0" tIns="0" rIns="0" bIns="0" rtlCol="0" anchor="ctr"/>
          <a:lstStyle/>
          <a:p>
            <a:pPr algn="ctr" indent="0" marL="0">
              <a:buNone/>
            </a:pPr>
            <a:r>
              <a:rPr lang="en-US" sz="2700" b="1" dirty="0">
                <a:solidFill>
                  <a:srgbClr val="B9550F"/>
                </a:solidFill>
                <a:latin typeface="Calibri" pitchFamily="34" charset="0"/>
                <a:ea typeface="Calibri" pitchFamily="34" charset="-122"/>
                <a:cs typeface="Calibri" pitchFamily="34" charset="-120"/>
              </a:rPr>
              <a:t>+13.63</a:t>
            </a:r>
            <a:endParaRPr lang="en-US" sz="2700" dirty="0"/>
          </a:p>
        </p:txBody>
      </p:sp>
      <p:sp>
        <p:nvSpPr>
          <p:cNvPr id="13" name="Text 9"/>
          <p:cNvSpPr/>
          <p:nvPr/>
        </p:nvSpPr>
        <p:spPr>
          <a:xfrm>
            <a:off x="3291840" y="5376672"/>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ONE setting gave</a:t>
            </a:r>
            <a:endParaRPr lang="en-US" sz="1150" dirty="0"/>
          </a:p>
        </p:txBody>
      </p:sp>
      <p:sp>
        <p:nvSpPr>
          <p:cNvPr id="14" name="Shape 10"/>
          <p:cNvSpPr/>
          <p:nvPr/>
        </p:nvSpPr>
        <p:spPr>
          <a:xfrm>
            <a:off x="6263640" y="4773168"/>
            <a:ext cx="2606040" cy="1005840"/>
          </a:xfrm>
          <a:prstGeom prst="roundRect">
            <a:avLst>
              <a:gd name="adj" fmla="val 6364"/>
            </a:avLst>
          </a:prstGeom>
          <a:solidFill>
            <a:srgbClr val="F4F6FA"/>
          </a:solidFill>
          <a:ln w="12700">
            <a:solidFill>
              <a:srgbClr val="F4F6FA"/>
            </a:solidFill>
            <a:prstDash val="solid"/>
          </a:ln>
        </p:spPr>
      </p:sp>
      <p:sp>
        <p:nvSpPr>
          <p:cNvPr id="15" name="Text 11"/>
          <p:cNvSpPr/>
          <p:nvPr/>
        </p:nvSpPr>
        <p:spPr>
          <a:xfrm>
            <a:off x="6263640" y="4855464"/>
            <a:ext cx="260604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61.99</a:t>
            </a:r>
            <a:endParaRPr lang="en-US" sz="2700" dirty="0"/>
          </a:p>
        </p:txBody>
      </p:sp>
      <p:sp>
        <p:nvSpPr>
          <p:cNvPr id="16" name="Text 12"/>
          <p:cNvSpPr/>
          <p:nvPr/>
        </p:nvSpPr>
        <p:spPr>
          <a:xfrm>
            <a:off x="6263640" y="5376672"/>
            <a:ext cx="260604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AUC — identical</a:t>
            </a:r>
            <a:endParaRPr lang="en-US" sz="1150" dirty="0"/>
          </a:p>
        </p:txBody>
      </p:sp>
      <p:sp>
        <p:nvSpPr>
          <p:cNvPr id="17" name="Shape 13"/>
          <p:cNvSpPr/>
          <p:nvPr/>
        </p:nvSpPr>
        <p:spPr>
          <a:xfrm>
            <a:off x="9070848" y="4773168"/>
            <a:ext cx="2633472" cy="1005840"/>
          </a:xfrm>
          <a:prstGeom prst="roundRect">
            <a:avLst>
              <a:gd name="adj" fmla="val 6364"/>
            </a:avLst>
          </a:prstGeom>
          <a:solidFill>
            <a:srgbClr val="F4F6FA"/>
          </a:solidFill>
          <a:ln w="12700">
            <a:solidFill>
              <a:srgbClr val="F4F6FA"/>
            </a:solidFill>
            <a:prstDash val="solid"/>
          </a:ln>
        </p:spPr>
      </p:sp>
      <p:sp>
        <p:nvSpPr>
          <p:cNvPr id="18" name="Text 14"/>
          <p:cNvSpPr/>
          <p:nvPr/>
        </p:nvSpPr>
        <p:spPr>
          <a:xfrm>
            <a:off x="9070848" y="4855464"/>
            <a:ext cx="2633472"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23% → 80%</a:t>
            </a:r>
            <a:endParaRPr lang="en-US" sz="2700" dirty="0"/>
          </a:p>
        </p:txBody>
      </p:sp>
      <p:sp>
        <p:nvSpPr>
          <p:cNvPr id="19" name="Text 15"/>
          <p:cNvSpPr/>
          <p:nvPr/>
        </p:nvSpPr>
        <p:spPr>
          <a:xfrm>
            <a:off x="9070848" y="5376672"/>
            <a:ext cx="2633472"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how often it cries "crime"</a:t>
            </a:r>
            <a:endParaRPr lang="en-US" sz="1150" dirty="0"/>
          </a:p>
        </p:txBody>
      </p:sp>
      <p:sp>
        <p:nvSpPr>
          <p:cNvPr id="20" name="Shape 16"/>
          <p:cNvSpPr/>
          <p:nvPr/>
        </p:nvSpPr>
        <p:spPr>
          <a:xfrm>
            <a:off x="457200" y="5961888"/>
            <a:ext cx="11247120" cy="658368"/>
          </a:xfrm>
          <a:prstGeom prst="roundRect">
            <a:avLst>
              <a:gd name="adj" fmla="val 9722"/>
            </a:avLst>
          </a:prstGeom>
          <a:solidFill>
            <a:srgbClr val="FDF2F0"/>
          </a:solidFill>
          <a:ln w="12700">
            <a:solidFill>
              <a:srgbClr val="FDF2F0"/>
            </a:solidFill>
            <a:prstDash val="solid"/>
          </a:ln>
        </p:spPr>
      </p:sp>
      <p:sp>
        <p:nvSpPr>
          <p:cNvPr id="21" name="Text 17"/>
          <p:cNvSpPr/>
          <p:nvPr/>
        </p:nvSpPr>
        <p:spPr>
          <a:xfrm>
            <a:off x="731520" y="6053328"/>
            <a:ext cx="10789920" cy="502920"/>
          </a:xfrm>
          <a:prstGeom prst="rect">
            <a:avLst/>
          </a:prstGeom>
          <a:noFill/>
          <a:ln/>
        </p:spPr>
        <p:txBody>
          <a:bodyPr wrap="square" lIns="0" tIns="0" rIns="0" bIns="0" rtlCol="0" anchor="ctr"/>
          <a:lstStyle/>
          <a:p>
            <a:pPr indent="0" marL="0">
              <a:buNone/>
            </a:pPr>
            <a:r>
              <a:rPr lang="en-US" sz="1300" b="1" dirty="0">
                <a:solidFill>
                  <a:srgbClr val="7B241C"/>
                </a:solidFill>
                <a:latin typeface="Calibri" pitchFamily="34" charset="0"/>
                <a:ea typeface="Calibri" pitchFamily="34" charset="-122"/>
                <a:cs typeface="Calibri" pitchFamily="34" charset="-120"/>
              </a:rPr>
              <a:t>The model did not get better at finding crime. It started labelling 8 out of 10 poor neighbourhoods as high-crime — and the usual fairness score rewarded that.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is new, and where we can publish it</a:t>
            </a:r>
            <a:endParaRPr lang="en-US" sz="3300" dirty="0"/>
          </a:p>
        </p:txBody>
      </p:sp>
      <p:sp>
        <p:nvSpPr>
          <p:cNvPr id="3" name="Text 1"/>
          <p:cNvSpPr/>
          <p:nvPr/>
        </p:nvSpPr>
        <p:spPr>
          <a:xfrm>
            <a:off x="548640" y="1316736"/>
            <a:ext cx="5486400" cy="256032"/>
          </a:xfrm>
          <a:prstGeom prst="rect">
            <a:avLst/>
          </a:prstGeom>
          <a:noFill/>
          <a:ln/>
        </p:spPr>
        <p:txBody>
          <a:bodyPr wrap="square"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OUR THREE CONTRIBUTIONS</a:t>
            </a:r>
            <a:endParaRPr lang="en-US" sz="1150" dirty="0"/>
          </a:p>
        </p:txBody>
      </p:sp>
      <p:sp>
        <p:nvSpPr>
          <p:cNvPr id="4" name="Shape 2"/>
          <p:cNvSpPr/>
          <p:nvPr/>
        </p:nvSpPr>
        <p:spPr>
          <a:xfrm>
            <a:off x="548640" y="1627632"/>
            <a:ext cx="365760" cy="365760"/>
          </a:xfrm>
          <a:prstGeom prst="ellipse">
            <a:avLst/>
          </a:prstGeom>
          <a:solidFill>
            <a:srgbClr val="1E2761"/>
          </a:solidFill>
          <a:ln w="12700">
            <a:solidFill>
              <a:srgbClr val="1E2761"/>
            </a:solidFill>
            <a:prstDash val="solid"/>
          </a:ln>
        </p:spPr>
      </p:sp>
      <p:sp>
        <p:nvSpPr>
          <p:cNvPr id="5" name="Text 3"/>
          <p:cNvSpPr/>
          <p:nvPr/>
        </p:nvSpPr>
        <p:spPr>
          <a:xfrm>
            <a:off x="54864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581912"/>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Correcting for base rates is NOT enough</a:t>
            </a:r>
            <a:endParaRPr lang="en-US" sz="1350" dirty="0"/>
          </a:p>
        </p:txBody>
      </p:sp>
      <p:sp>
        <p:nvSpPr>
          <p:cNvPr id="7" name="Text 5"/>
          <p:cNvSpPr/>
          <p:nvPr/>
        </p:nvSpPr>
        <p:spPr>
          <a:xfrm>
            <a:off x="1051560" y="1865376"/>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A model can fake a fairness win by guessing more often. Our own correction was fooled — only AUC caught it.</a:t>
            </a:r>
            <a:endParaRPr lang="en-US" sz="1150" dirty="0"/>
          </a:p>
        </p:txBody>
      </p:sp>
      <p:sp>
        <p:nvSpPr>
          <p:cNvPr id="8" name="Shape 6"/>
          <p:cNvSpPr/>
          <p:nvPr/>
        </p:nvSpPr>
        <p:spPr>
          <a:xfrm>
            <a:off x="548640" y="2670048"/>
            <a:ext cx="365760" cy="365760"/>
          </a:xfrm>
          <a:prstGeom prst="ellipse">
            <a:avLst/>
          </a:prstGeom>
          <a:solidFill>
            <a:srgbClr val="1E2761"/>
          </a:solidFill>
          <a:ln w="12700">
            <a:solidFill>
              <a:srgbClr val="1E2761"/>
            </a:solidFill>
            <a:prstDash val="solid"/>
          </a:ln>
        </p:spPr>
      </p:sp>
      <p:sp>
        <p:nvSpPr>
          <p:cNvPr id="9" name="Text 7"/>
          <p:cNvSpPr/>
          <p:nvPr/>
        </p:nvSpPr>
        <p:spPr>
          <a:xfrm>
            <a:off x="548640" y="26700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051560" y="2624328"/>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Published fairness gaps track crime volume</a:t>
            </a:r>
            <a:endParaRPr lang="en-US" sz="1350" dirty="0"/>
          </a:p>
        </p:txBody>
      </p:sp>
      <p:sp>
        <p:nvSpPr>
          <p:cNvPr id="11" name="Text 9"/>
          <p:cNvSpPr/>
          <p:nvPr/>
        </p:nvSpPr>
        <p:spPr>
          <a:xfrm>
            <a:off x="1051560" y="2907792"/>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6 papers, correlation 0.87–0.90, p = 1.3 × 10⁻⁵. Holds with no statistical assumptions at all.</a:t>
            </a:r>
            <a:endParaRPr lang="en-US" sz="1150" dirty="0"/>
          </a:p>
        </p:txBody>
      </p:sp>
      <p:sp>
        <p:nvSpPr>
          <p:cNvPr id="12" name="Shape 10"/>
          <p:cNvSpPr/>
          <p:nvPr/>
        </p:nvSpPr>
        <p:spPr>
          <a:xfrm>
            <a:off x="548640" y="3712464"/>
            <a:ext cx="365760" cy="365760"/>
          </a:xfrm>
          <a:prstGeom prst="ellipse">
            <a:avLst/>
          </a:prstGeom>
          <a:solidFill>
            <a:srgbClr val="1E2761"/>
          </a:solidFill>
          <a:ln w="12700">
            <a:solidFill>
              <a:srgbClr val="1E2761"/>
            </a:solidFill>
            <a:prstDash val="solid"/>
          </a:ln>
        </p:spPr>
      </p:sp>
      <p:sp>
        <p:nvSpPr>
          <p:cNvPr id="13" name="Text 11"/>
          <p:cNvSpPr/>
          <p:nvPr/>
        </p:nvSpPr>
        <p:spPr>
          <a:xfrm>
            <a:off x="548640" y="3712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51560" y="3666744"/>
            <a:ext cx="4892040" cy="274320"/>
          </a:xfrm>
          <a:prstGeom prst="rect">
            <a:avLst/>
          </a:prstGeom>
          <a:noFill/>
          <a:ln/>
        </p:spPr>
        <p:txBody>
          <a:bodyPr wrap="square" lIns="0" tIns="0" rIns="0" bIns="0" rtlCol="0" anchor="ctr"/>
          <a:lstStyle/>
          <a:p>
            <a:pPr indent="0" marL="0">
              <a:buNone/>
            </a:pPr>
            <a:r>
              <a:rPr lang="en-US" sz="1350" b="1" dirty="0">
                <a:solidFill>
                  <a:srgbClr val="222222"/>
                </a:solidFill>
                <a:latin typeface="Calibri" pitchFamily="34" charset="0"/>
                <a:ea typeface="Calibri" pitchFamily="34" charset="-122"/>
                <a:cs typeface="Calibri" pitchFamily="34" charset="-120"/>
              </a:rPr>
              <a:t>It changes who gets help</a:t>
            </a:r>
            <a:endParaRPr lang="en-US" sz="1350" dirty="0"/>
          </a:p>
        </p:txBody>
      </p:sp>
      <p:sp>
        <p:nvSpPr>
          <p:cNvPr id="15" name="Text 13"/>
          <p:cNvSpPr/>
          <p:nvPr/>
        </p:nvSpPr>
        <p:spPr>
          <a:xfrm>
            <a:off x="1051560" y="3950208"/>
            <a:ext cx="4892040" cy="566928"/>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Picking the best model: unaffected. Picking which area needs help: changed for every single model.</a:t>
            </a:r>
            <a:endParaRPr lang="en-US" sz="1150" dirty="0"/>
          </a:p>
        </p:txBody>
      </p:sp>
      <p:pic>
        <p:nvPicPr>
          <p:cNvPr id="16" name="Image 0" descr="slides/s4_pies.png">    </p:cNvPr>
          <p:cNvPicPr>
            <a:picLocks noChangeAspect="1"/>
          </p:cNvPicPr>
          <p:nvPr/>
        </p:nvPicPr>
        <p:blipFill>
          <a:blip r:embed="rId1"/>
          <a:stretch>
            <a:fillRect/>
          </a:stretch>
        </p:blipFill>
        <p:spPr>
          <a:xfrm>
            <a:off x="777240" y="4663440"/>
            <a:ext cx="4846320" cy="1773936"/>
          </a:xfrm>
          <a:prstGeom prst="rect">
            <a:avLst/>
          </a:prstGeom>
        </p:spPr>
      </p:pic>
      <p:sp>
        <p:nvSpPr>
          <p:cNvPr id="17" name="Shape 14"/>
          <p:cNvSpPr/>
          <p:nvPr/>
        </p:nvSpPr>
        <p:spPr>
          <a:xfrm>
            <a:off x="6446520" y="1536192"/>
            <a:ext cx="5257800" cy="2286000"/>
          </a:xfrm>
          <a:prstGeom prst="roundRect">
            <a:avLst>
              <a:gd name="adj" fmla="val 2800"/>
            </a:avLst>
          </a:prstGeom>
          <a:solidFill>
            <a:srgbClr val="F4F6FA"/>
          </a:solidFill>
          <a:ln w="12700">
            <a:solidFill>
              <a:srgbClr val="F4F6FA"/>
            </a:solidFill>
            <a:prstDash val="solid"/>
          </a:ln>
        </p:spPr>
      </p:sp>
      <p:sp>
        <p:nvSpPr>
          <p:cNvPr id="18" name="Text 15"/>
          <p:cNvSpPr/>
          <p:nvPr/>
        </p:nvSpPr>
        <p:spPr>
          <a:xfrm>
            <a:off x="6693408" y="1664208"/>
            <a:ext cx="4754880" cy="25603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TARGET VENUE</a:t>
            </a:r>
            <a:endParaRPr lang="en-US" sz="1150" dirty="0"/>
          </a:p>
        </p:txBody>
      </p:sp>
      <p:sp>
        <p:nvSpPr>
          <p:cNvPr id="19" name="Text 16"/>
          <p:cNvSpPr/>
          <p:nvPr/>
        </p:nvSpPr>
        <p:spPr>
          <a:xfrm>
            <a:off x="6693408" y="1920240"/>
            <a:ext cx="4754880" cy="402336"/>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ACM FAccT 2027</a:t>
            </a:r>
            <a:endParaRPr lang="en-US" sz="2500" dirty="0"/>
          </a:p>
        </p:txBody>
      </p:sp>
      <p:sp>
        <p:nvSpPr>
          <p:cNvPr id="20" name="Text 17"/>
          <p:cNvSpPr/>
          <p:nvPr/>
        </p:nvSpPr>
        <p:spPr>
          <a:xfrm>
            <a:off x="6693408" y="2340864"/>
            <a:ext cx="4754880" cy="365760"/>
          </a:xfrm>
          <a:prstGeom prst="rect">
            <a:avLst/>
          </a:prstGeom>
          <a:noFill/>
          <a:ln/>
        </p:spPr>
        <p:txBody>
          <a:bodyPr wrap="square" lIns="0" tIns="0" rIns="0" bIns="0" rtlCol="0" anchor="ctr"/>
          <a:lstStyle/>
          <a:p>
            <a:pPr indent="0" marL="0">
              <a:lnSpc>
                <a:spcPts val="1400"/>
              </a:lnSpc>
              <a:buNone/>
            </a:pPr>
            <a:r>
              <a:rPr lang="en-US" sz="1150" dirty="0">
                <a:solidFill>
                  <a:srgbClr val="5A5A5A"/>
                </a:solidFill>
                <a:latin typeface="Calibri" pitchFamily="34" charset="0"/>
                <a:ea typeface="Calibri" pitchFamily="34" charset="-122"/>
                <a:cs typeface="Calibri" pitchFamily="34" charset="-120"/>
              </a:rPr>
              <a:t>Conference on Fairness, Accountability and Transparency</a:t>
            </a:r>
            <a:endParaRPr lang="en-US" sz="1150" dirty="0"/>
          </a:p>
        </p:txBody>
      </p:sp>
      <p:sp>
        <p:nvSpPr>
          <p:cNvPr id="21" name="Text 18"/>
          <p:cNvSpPr/>
          <p:nvPr/>
        </p:nvSpPr>
        <p:spPr>
          <a:xfrm>
            <a:off x="6693408" y="2761488"/>
            <a:ext cx="4754880" cy="932688"/>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Abstract due  27 October 2026</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Paper due  3 November 2026</a:t>
            </a:r>
            <a:endParaRPr lang="en-US" sz="1200" dirty="0"/>
          </a:p>
          <a:p>
            <a:pPr marL="342900" indent="-342900">
              <a:spcAft>
                <a:spcPts val="500"/>
              </a:spcAft>
              <a:buSzPct val="100000"/>
              <a:buChar char="•"/>
            </a:pPr>
            <a:r>
              <a:rPr lang="en-US" sz="1200" dirty="0">
                <a:solidFill>
                  <a:srgbClr val="222222"/>
                </a:solidFill>
                <a:latin typeface="Calibri" pitchFamily="34" charset="0"/>
                <a:ea typeface="Calibri" pitchFamily="34" charset="-122"/>
                <a:cs typeface="Calibri" pitchFamily="34" charset="-120"/>
              </a:rPr>
              <a:t>Acceptance 26.8% — revise round accepts 71%</a:t>
            </a:r>
            <a:endParaRPr lang="en-US" sz="1200" dirty="0"/>
          </a:p>
        </p:txBody>
      </p:sp>
      <p:sp>
        <p:nvSpPr>
          <p:cNvPr id="22" name="Shape 19"/>
          <p:cNvSpPr/>
          <p:nvPr/>
        </p:nvSpPr>
        <p:spPr>
          <a:xfrm>
            <a:off x="6446520" y="3968496"/>
            <a:ext cx="5257800" cy="1060704"/>
          </a:xfrm>
          <a:prstGeom prst="roundRect">
            <a:avLst>
              <a:gd name="adj" fmla="val 6034"/>
            </a:avLst>
          </a:prstGeom>
          <a:solidFill>
            <a:srgbClr val="EAF3EC"/>
          </a:solidFill>
          <a:ln w="12700">
            <a:solidFill>
              <a:srgbClr val="EAF3EC"/>
            </a:solidFill>
            <a:prstDash val="solid"/>
          </a:ln>
        </p:spPr>
      </p:sp>
      <p:sp>
        <p:nvSpPr>
          <p:cNvPr id="23" name="Text 20"/>
          <p:cNvSpPr/>
          <p:nvPr/>
        </p:nvSpPr>
        <p:spPr>
          <a:xfrm>
            <a:off x="6693408" y="4078224"/>
            <a:ext cx="4754880" cy="868680"/>
          </a:xfrm>
          <a:prstGeom prst="rect">
            <a:avLst/>
          </a:prstGeom>
          <a:noFill/>
          <a:ln/>
        </p:spPr>
        <p:txBody>
          <a:bodyPr wrap="square" lIns="0" tIns="0" rIns="0" bIns="0" rtlCol="0" anchor="ctr"/>
          <a:lstStyle/>
          <a:p>
            <a:pPr indent="0" marL="0">
              <a:lnSpc>
                <a:spcPts val="1500"/>
              </a:lnSpc>
              <a:buNone/>
            </a:pPr>
            <a:r>
              <a:rPr lang="en-US" sz="1200" dirty="0">
                <a:solidFill>
                  <a:srgbClr val="145A32"/>
                </a:solidFill>
                <a:latin typeface="Calibri" pitchFamily="34" charset="0"/>
                <a:ea typeface="Calibri" pitchFamily="34" charset="-122"/>
                <a:cs typeface="Calibri" pitchFamily="34" charset="-120"/>
              </a:rPr>
              <a:t>Their call asks specifically for papers that "examine evaluation metrics and measurement practices" — our paper in their own words.</a:t>
            </a:r>
            <a:endParaRPr lang="en-US" sz="1200" dirty="0"/>
          </a:p>
        </p:txBody>
      </p:sp>
      <p:sp>
        <p:nvSpPr>
          <p:cNvPr id="24" name="Shape 21"/>
          <p:cNvSpPr/>
          <p:nvPr/>
        </p:nvSpPr>
        <p:spPr>
          <a:xfrm>
            <a:off x="6446520" y="5175504"/>
            <a:ext cx="5257800" cy="640080"/>
          </a:xfrm>
          <a:prstGeom prst="roundRect">
            <a:avLst>
              <a:gd name="adj" fmla="val 10000"/>
            </a:avLst>
          </a:prstGeom>
          <a:solidFill>
            <a:srgbClr val="F4F6FA"/>
          </a:solidFill>
          <a:ln w="12700">
            <a:solidFill>
              <a:srgbClr val="F4F6FA"/>
            </a:solidFill>
            <a:prstDash val="solid"/>
          </a:ln>
        </p:spPr>
      </p:sp>
      <p:sp>
        <p:nvSpPr>
          <p:cNvPr id="25" name="Text 22"/>
          <p:cNvSpPr/>
          <p:nvPr/>
        </p:nvSpPr>
        <p:spPr>
          <a:xfrm>
            <a:off x="6693408" y="5285232"/>
            <a:ext cx="4754880" cy="438912"/>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Backup: ACM TIST (journal, no deadline)</a:t>
            </a:r>
            <a:endParaRPr lang="en-US" sz="1200" dirty="0"/>
          </a:p>
        </p:txBody>
      </p:sp>
      <p:sp>
        <p:nvSpPr>
          <p:cNvPr id="26" name="Shape 23"/>
          <p:cNvSpPr/>
          <p:nvPr/>
        </p:nvSpPr>
        <p:spPr>
          <a:xfrm>
            <a:off x="6446520" y="5961888"/>
            <a:ext cx="5257800" cy="822960"/>
          </a:xfrm>
          <a:prstGeom prst="roundRect">
            <a:avLst>
              <a:gd name="adj" fmla="val 7778"/>
            </a:avLst>
          </a:prstGeom>
          <a:solidFill>
            <a:srgbClr val="FEF9E7"/>
          </a:solidFill>
          <a:ln w="12700">
            <a:solidFill>
              <a:srgbClr val="FEF9E7"/>
            </a:solidFill>
            <a:prstDash val="solid"/>
          </a:ln>
        </p:spPr>
      </p:sp>
      <p:sp>
        <p:nvSpPr>
          <p:cNvPr id="27" name="Text 24"/>
          <p:cNvSpPr/>
          <p:nvPr/>
        </p:nvSpPr>
        <p:spPr>
          <a:xfrm>
            <a:off x="6693408" y="6053328"/>
            <a:ext cx="4754880" cy="658368"/>
          </a:xfrm>
          <a:prstGeom prst="rect">
            <a:avLst/>
          </a:prstGeom>
          <a:noFill/>
          <a:ln/>
        </p:spPr>
        <p:txBody>
          <a:bodyPr wrap="square" lIns="0" tIns="0" rIns="0" bIns="0" rtlCol="0" anchor="ctr"/>
          <a:lstStyle/>
          <a:p>
            <a:pPr indent="0" marL="0">
              <a:lnSpc>
                <a:spcPts val="1500"/>
              </a:lnSpc>
              <a:buNone/>
            </a:pPr>
            <a:r>
              <a:rPr lang="en-US" sz="1200" b="1" dirty="0">
                <a:solidFill>
                  <a:srgbClr val="7D6608"/>
                </a:solidFill>
                <a:latin typeface="Calibri" pitchFamily="34" charset="0"/>
                <a:ea typeface="Calibri" pitchFamily="34" charset="-122"/>
                <a:cs typeface="Calibri" pitchFamily="34" charset="-120"/>
              </a:rPr>
              <a:t>DECISION NEEDED: build the paper around this measurement finding, and keep the attack/defence work for a second paper?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Where we were before physics</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Every method was tested against an identical model with the new part switched off</a:t>
            </a:r>
            <a:endParaRPr lang="en-US" sz="1450" dirty="0"/>
          </a:p>
        </p:txBody>
      </p:sp>
      <p:pic>
        <p:nvPicPr>
          <p:cNvPr id="4" name="Image 0" descr="slides/p1_before.png">    </p:cNvPr>
          <p:cNvPicPr>
            <a:picLocks noChangeAspect="1"/>
          </p:cNvPicPr>
          <p:nvPr/>
        </p:nvPicPr>
        <p:blipFill>
          <a:blip r:embed="rId1"/>
          <a:stretch>
            <a:fillRect/>
          </a:stretch>
        </p:blipFill>
        <p:spPr>
          <a:xfrm>
            <a:off x="457200" y="1353312"/>
            <a:ext cx="6309360" cy="3108960"/>
          </a:xfrm>
          <a:prstGeom prst="rect">
            <a:avLst/>
          </a:prstGeom>
        </p:spPr>
      </p:pic>
      <p:sp>
        <p:nvSpPr>
          <p:cNvPr id="5" name="Text 2"/>
          <p:cNvSpPr/>
          <p:nvPr/>
        </p:nvSpPr>
        <p:spPr>
          <a:xfrm>
            <a:off x="457200" y="4553712"/>
            <a:ext cx="6309360" cy="45720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Reweighting made the gap worse. Group-DRO and adaptive thresholds did nothing.</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All three graph types landed below their controls.</a:t>
            </a:r>
            <a:endParaRPr lang="en-US" sz="1200" dirty="0"/>
          </a:p>
        </p:txBody>
      </p:sp>
      <p:sp>
        <p:nvSpPr>
          <p:cNvPr id="6" name="Shape 3"/>
          <p:cNvSpPr/>
          <p:nvPr/>
        </p:nvSpPr>
        <p:spPr>
          <a:xfrm>
            <a:off x="7543800" y="1463040"/>
            <a:ext cx="4160520" cy="1325880"/>
          </a:xfrm>
          <a:prstGeom prst="roundRect">
            <a:avLst>
              <a:gd name="adj" fmla="val 4828"/>
            </a:avLst>
          </a:prstGeom>
          <a:solidFill>
            <a:srgbClr val="FDF2F0"/>
          </a:solidFill>
          <a:ln w="12700">
            <a:solidFill>
              <a:srgbClr val="FDF2F0"/>
            </a:solidFill>
            <a:prstDash val="solid"/>
          </a:ln>
        </p:spPr>
      </p:sp>
      <p:sp>
        <p:nvSpPr>
          <p:cNvPr id="7" name="Text 4"/>
          <p:cNvSpPr/>
          <p:nvPr/>
        </p:nvSpPr>
        <p:spPr>
          <a:xfrm>
            <a:off x="7772400" y="1572768"/>
            <a:ext cx="3749040" cy="274320"/>
          </a:xfrm>
          <a:prstGeom prst="rect">
            <a:avLst/>
          </a:prstGeom>
          <a:noFill/>
          <a:ln/>
        </p:spPr>
        <p:txBody>
          <a:bodyPr wrap="square" lIns="0" tIns="0" rIns="0" bIns="0" rtlCol="0" anchor="ctr"/>
          <a:lstStyle/>
          <a:p>
            <a:pPr indent="0" marL="0">
              <a:buNone/>
            </a:pPr>
            <a:r>
              <a:rPr lang="en-US" sz="1150" b="1" dirty="0">
                <a:solidFill>
                  <a:srgbClr val="7B241C"/>
                </a:solidFill>
                <a:latin typeface="Calibri" pitchFamily="34" charset="0"/>
                <a:ea typeface="Calibri" pitchFamily="34" charset="-122"/>
                <a:cs typeface="Calibri" pitchFamily="34" charset="-120"/>
              </a:rPr>
              <a:t>SIX ATTEMPTS, NONE WORKED</a:t>
            </a:r>
            <a:endParaRPr lang="en-US" sz="1150" dirty="0"/>
          </a:p>
        </p:txBody>
      </p:sp>
      <p:sp>
        <p:nvSpPr>
          <p:cNvPr id="8" name="Text 5"/>
          <p:cNvSpPr/>
          <p:nvPr/>
        </p:nvSpPr>
        <p:spPr>
          <a:xfrm>
            <a:off x="7772400" y="184708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Not one added ingredient beat its own matched control. The gated graph even learned to switch itself off.</a:t>
            </a:r>
            <a:endParaRPr lang="en-US" sz="1300" dirty="0"/>
          </a:p>
        </p:txBody>
      </p:sp>
      <p:sp>
        <p:nvSpPr>
          <p:cNvPr id="9" name="Shape 6"/>
          <p:cNvSpPr/>
          <p:nvPr/>
        </p:nvSpPr>
        <p:spPr>
          <a:xfrm>
            <a:off x="7543800" y="2926080"/>
            <a:ext cx="4160520" cy="1325880"/>
          </a:xfrm>
          <a:prstGeom prst="roundRect">
            <a:avLst>
              <a:gd name="adj" fmla="val 4828"/>
            </a:avLst>
          </a:prstGeom>
          <a:solidFill>
            <a:srgbClr val="F4F6FA"/>
          </a:solidFill>
          <a:ln w="12700">
            <a:solidFill>
              <a:srgbClr val="F4F6FA"/>
            </a:solidFill>
            <a:prstDash val="solid"/>
          </a:ln>
        </p:spPr>
      </p:sp>
      <p:sp>
        <p:nvSpPr>
          <p:cNvPr id="10" name="Text 7"/>
          <p:cNvSpPr/>
          <p:nvPr/>
        </p:nvSpPr>
        <p:spPr>
          <a:xfrm>
            <a:off x="7772400" y="3035808"/>
            <a:ext cx="374904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THE MODEL BARELY BEAT GUESSING</a:t>
            </a:r>
            <a:endParaRPr lang="en-US" sz="1150" dirty="0"/>
          </a:p>
        </p:txBody>
      </p:sp>
      <p:sp>
        <p:nvSpPr>
          <p:cNvPr id="11" name="Text 8"/>
          <p:cNvSpPr/>
          <p:nvPr/>
        </p:nvSpPr>
        <p:spPr>
          <a:xfrm>
            <a:off x="7772400" y="331012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On the burglary data the control scored 53 out of 100 at telling a crime week from a quiet one. 50 is a coin flip.</a:t>
            </a:r>
            <a:endParaRPr lang="en-US" sz="1300" dirty="0"/>
          </a:p>
        </p:txBody>
      </p:sp>
      <p:sp>
        <p:nvSpPr>
          <p:cNvPr id="12" name="Shape 9"/>
          <p:cNvSpPr/>
          <p:nvPr/>
        </p:nvSpPr>
        <p:spPr>
          <a:xfrm>
            <a:off x="7543800" y="4389120"/>
            <a:ext cx="4160520" cy="1325880"/>
          </a:xfrm>
          <a:prstGeom prst="roundRect">
            <a:avLst>
              <a:gd name="adj" fmla="val 4828"/>
            </a:avLst>
          </a:prstGeom>
          <a:solidFill>
            <a:srgbClr val="F4F6FA"/>
          </a:solidFill>
          <a:ln w="12700">
            <a:solidFill>
              <a:srgbClr val="F4F6FA"/>
            </a:solidFill>
            <a:prstDash val="solid"/>
          </a:ln>
        </p:spPr>
      </p:sp>
      <p:sp>
        <p:nvSpPr>
          <p:cNvPr id="13" name="Text 10"/>
          <p:cNvSpPr/>
          <p:nvPr/>
        </p:nvSpPr>
        <p:spPr>
          <a:xfrm>
            <a:off x="7772400" y="4498848"/>
            <a:ext cx="374904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WHAT WE CONCLUDED</a:t>
            </a:r>
            <a:endParaRPr lang="en-US" sz="1150" dirty="0"/>
          </a:p>
        </p:txBody>
      </p:sp>
      <p:sp>
        <p:nvSpPr>
          <p:cNvPr id="14" name="Text 11"/>
          <p:cNvSpPr/>
          <p:nvPr/>
        </p:nvSpPr>
        <p:spPr>
          <a:xfrm>
            <a:off x="7772400" y="4773168"/>
            <a:ext cx="3749040" cy="91440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The limit was in the data, not the architecture. More layers, better graphs and smarter losses all hit the same wall.</a:t>
            </a:r>
            <a:endParaRPr lang="en-US" sz="1300" dirty="0"/>
          </a:p>
        </p:txBody>
      </p:sp>
      <p:sp>
        <p:nvSpPr>
          <p:cNvPr id="15" name="Shape 12"/>
          <p:cNvSpPr/>
          <p:nvPr/>
        </p:nvSpPr>
        <p:spPr>
          <a:xfrm>
            <a:off x="457200" y="5138928"/>
            <a:ext cx="2011680" cy="1005840"/>
          </a:xfrm>
          <a:prstGeom prst="roundRect">
            <a:avLst>
              <a:gd name="adj" fmla="val 6364"/>
            </a:avLst>
          </a:prstGeom>
          <a:solidFill>
            <a:srgbClr val="F4F6FA"/>
          </a:solidFill>
          <a:ln w="12700">
            <a:solidFill>
              <a:srgbClr val="F4F6FA"/>
            </a:solidFill>
            <a:prstDash val="solid"/>
          </a:ln>
        </p:spPr>
      </p:sp>
      <p:sp>
        <p:nvSpPr>
          <p:cNvPr id="16" name="Text 13"/>
          <p:cNvSpPr/>
          <p:nvPr/>
        </p:nvSpPr>
        <p:spPr>
          <a:xfrm>
            <a:off x="457200" y="5221224"/>
            <a:ext cx="2011680" cy="530352"/>
          </a:xfrm>
          <a:prstGeom prst="rect">
            <a:avLst/>
          </a:prstGeom>
          <a:noFill/>
          <a:ln/>
        </p:spPr>
        <p:txBody>
          <a:bodyPr wrap="square" lIns="0" tIns="0" rIns="0" bIns="0" rtlCol="0" anchor="ctr"/>
          <a:lstStyle/>
          <a:p>
            <a:pPr algn="ctr" indent="0" marL="0">
              <a:buNone/>
            </a:pPr>
            <a:r>
              <a:rPr lang="en-US" sz="2700" b="1" dirty="0">
                <a:solidFill>
                  <a:srgbClr val="1E2761"/>
                </a:solidFill>
                <a:latin typeface="Calibri" pitchFamily="34" charset="0"/>
                <a:ea typeface="Calibri" pitchFamily="34" charset="-122"/>
                <a:cs typeface="Calibri" pitchFamily="34" charset="-120"/>
              </a:rPr>
              <a:t>6</a:t>
            </a:r>
            <a:endParaRPr lang="en-US" sz="2700" dirty="0"/>
          </a:p>
        </p:txBody>
      </p:sp>
      <p:sp>
        <p:nvSpPr>
          <p:cNvPr id="17" name="Text 14"/>
          <p:cNvSpPr/>
          <p:nvPr/>
        </p:nvSpPr>
        <p:spPr>
          <a:xfrm>
            <a:off x="45720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methods tried</a:t>
            </a:r>
            <a:endParaRPr lang="en-US" sz="1150" dirty="0"/>
          </a:p>
        </p:txBody>
      </p:sp>
      <p:sp>
        <p:nvSpPr>
          <p:cNvPr id="18" name="Shape 15"/>
          <p:cNvSpPr/>
          <p:nvPr/>
        </p:nvSpPr>
        <p:spPr>
          <a:xfrm>
            <a:off x="2606040" y="5138928"/>
            <a:ext cx="2011680" cy="1005840"/>
          </a:xfrm>
          <a:prstGeom prst="roundRect">
            <a:avLst>
              <a:gd name="adj" fmla="val 6364"/>
            </a:avLst>
          </a:prstGeom>
          <a:solidFill>
            <a:srgbClr val="F4F6FA"/>
          </a:solidFill>
          <a:ln w="12700">
            <a:solidFill>
              <a:srgbClr val="F4F6FA"/>
            </a:solidFill>
            <a:prstDash val="solid"/>
          </a:ln>
        </p:spPr>
      </p:sp>
      <p:sp>
        <p:nvSpPr>
          <p:cNvPr id="19" name="Text 16"/>
          <p:cNvSpPr/>
          <p:nvPr/>
        </p:nvSpPr>
        <p:spPr>
          <a:xfrm>
            <a:off x="2606040" y="5221224"/>
            <a:ext cx="2011680" cy="530352"/>
          </a:xfrm>
          <a:prstGeom prst="rect">
            <a:avLst/>
          </a:prstGeom>
          <a:noFill/>
          <a:ln/>
        </p:spPr>
        <p:txBody>
          <a:bodyPr wrap="square" lIns="0" tIns="0" rIns="0" bIns="0" rtlCol="0" anchor="ctr"/>
          <a:lstStyle/>
          <a:p>
            <a:pPr algn="ctr" indent="0" marL="0">
              <a:buNone/>
            </a:pPr>
            <a:r>
              <a:rPr lang="en-US" sz="2700" b="1" dirty="0">
                <a:solidFill>
                  <a:srgbClr val="C0392B"/>
                </a:solidFill>
                <a:latin typeface="Calibri" pitchFamily="34" charset="0"/>
                <a:ea typeface="Calibri" pitchFamily="34" charset="-122"/>
                <a:cs typeface="Calibri" pitchFamily="34" charset="-120"/>
              </a:rPr>
              <a:t>0</a:t>
            </a:r>
            <a:endParaRPr lang="en-US" sz="2700" dirty="0"/>
          </a:p>
        </p:txBody>
      </p:sp>
      <p:sp>
        <p:nvSpPr>
          <p:cNvPr id="20" name="Text 17"/>
          <p:cNvSpPr/>
          <p:nvPr/>
        </p:nvSpPr>
        <p:spPr>
          <a:xfrm>
            <a:off x="260604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that worked</a:t>
            </a:r>
            <a:endParaRPr lang="en-US" sz="1150" dirty="0"/>
          </a:p>
        </p:txBody>
      </p:sp>
      <p:sp>
        <p:nvSpPr>
          <p:cNvPr id="21" name="Shape 18"/>
          <p:cNvSpPr/>
          <p:nvPr/>
        </p:nvSpPr>
        <p:spPr>
          <a:xfrm>
            <a:off x="4754880" y="5138928"/>
            <a:ext cx="2011680" cy="1005840"/>
          </a:xfrm>
          <a:prstGeom prst="roundRect">
            <a:avLst>
              <a:gd name="adj" fmla="val 6364"/>
            </a:avLst>
          </a:prstGeom>
          <a:solidFill>
            <a:srgbClr val="F4F6FA"/>
          </a:solidFill>
          <a:ln w="12700">
            <a:solidFill>
              <a:srgbClr val="F4F6FA"/>
            </a:solidFill>
            <a:prstDash val="solid"/>
          </a:ln>
        </p:spPr>
      </p:sp>
      <p:sp>
        <p:nvSpPr>
          <p:cNvPr id="22" name="Text 19"/>
          <p:cNvSpPr/>
          <p:nvPr/>
        </p:nvSpPr>
        <p:spPr>
          <a:xfrm>
            <a:off x="4754880" y="5221224"/>
            <a:ext cx="2011680" cy="530352"/>
          </a:xfrm>
          <a:prstGeom prst="rect">
            <a:avLst/>
          </a:prstGeom>
          <a:noFill/>
          <a:ln/>
        </p:spPr>
        <p:txBody>
          <a:bodyPr wrap="square" lIns="0" tIns="0" rIns="0" bIns="0" rtlCol="0" anchor="ctr"/>
          <a:lstStyle/>
          <a:p>
            <a:pPr algn="ctr" indent="0" marL="0">
              <a:buNone/>
            </a:pPr>
            <a:r>
              <a:rPr lang="en-US" sz="2700" b="1" dirty="0">
                <a:solidFill>
                  <a:srgbClr val="7F8C8D"/>
                </a:solidFill>
                <a:latin typeface="Calibri" pitchFamily="34" charset="0"/>
                <a:ea typeface="Calibri" pitchFamily="34" charset="-122"/>
                <a:cs typeface="Calibri" pitchFamily="34" charset="-120"/>
              </a:rPr>
              <a:t>53</a:t>
            </a:r>
            <a:endParaRPr lang="en-US" sz="2700" dirty="0"/>
          </a:p>
        </p:txBody>
      </p:sp>
      <p:sp>
        <p:nvSpPr>
          <p:cNvPr id="23" name="Text 20"/>
          <p:cNvSpPr/>
          <p:nvPr/>
        </p:nvSpPr>
        <p:spPr>
          <a:xfrm>
            <a:off x="4754880" y="5742432"/>
            <a:ext cx="201168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score out of 100</a:t>
            </a:r>
            <a:endParaRPr lang="en-US" sz="1150" dirty="0"/>
          </a:p>
        </p:txBody>
      </p:sp>
      <p:sp>
        <p:nvSpPr>
          <p:cNvPr id="24" name="Shape 21"/>
          <p:cNvSpPr/>
          <p:nvPr/>
        </p:nvSpPr>
        <p:spPr>
          <a:xfrm>
            <a:off x="457200" y="6291072"/>
            <a:ext cx="11247120" cy="502920"/>
          </a:xfrm>
          <a:prstGeom prst="roundRect">
            <a:avLst>
              <a:gd name="adj" fmla="val 12727"/>
            </a:avLst>
          </a:prstGeom>
          <a:solidFill>
            <a:srgbClr val="F4F6FA"/>
          </a:solidFill>
          <a:ln w="12700">
            <a:solidFill>
              <a:srgbClr val="F4F6FA"/>
            </a:solidFill>
            <a:prstDash val="solid"/>
          </a:ln>
        </p:spPr>
      </p:sp>
      <p:sp>
        <p:nvSpPr>
          <p:cNvPr id="25" name="Text 22"/>
          <p:cNvSpPr/>
          <p:nvPr/>
        </p:nvSpPr>
        <p:spPr>
          <a:xfrm>
            <a:off x="731520" y="6364224"/>
            <a:ext cx="10789920" cy="38404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This is why the physics result matters: it is the first ingredient in the whole project that earned its place.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What changed with physics</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We wrote a real criminology rule into the model: a burgled street attracts more burglary nearby, and that effect fades over time</a:t>
            </a:r>
            <a:endParaRPr lang="en-US" sz="1450" dirty="0"/>
          </a:p>
        </p:txBody>
      </p:sp>
      <p:pic>
        <p:nvPicPr>
          <p:cNvPr id="4" name="Image 0" descr="slides/p2_auc.png">    </p:cNvPr>
          <p:cNvPicPr>
            <a:picLocks noChangeAspect="1"/>
          </p:cNvPicPr>
          <p:nvPr/>
        </p:nvPicPr>
        <p:blipFill>
          <a:blip r:embed="rId1"/>
          <a:stretch>
            <a:fillRect/>
          </a:stretch>
        </p:blipFill>
        <p:spPr>
          <a:xfrm>
            <a:off x="411480" y="1353312"/>
            <a:ext cx="5852160" cy="3017520"/>
          </a:xfrm>
          <a:prstGeom prst="rect">
            <a:avLst/>
          </a:prstGeom>
        </p:spPr>
      </p:pic>
      <p:sp>
        <p:nvSpPr>
          <p:cNvPr id="5" name="Text 2"/>
          <p:cNvSpPr/>
          <p:nvPr/>
        </p:nvSpPr>
        <p:spPr>
          <a:xfrm>
            <a:off x="411480" y="4443984"/>
            <a:ext cx="5852160" cy="50292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5 seeds each. t = 9.6, so this is not luck. Generic smoothing scored 44.6 —</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WORSE than nothing — so it is the burglary equations doing the work.</a:t>
            </a:r>
            <a:endParaRPr lang="en-US" sz="1200" dirty="0"/>
          </a:p>
        </p:txBody>
      </p:sp>
      <p:pic>
        <p:nvPicPr>
          <p:cNvPr id="6" name="Image 1" descr="slides/p3_tail.png">    </p:cNvPr>
          <p:cNvPicPr>
            <a:picLocks noChangeAspect="1"/>
          </p:cNvPicPr>
          <p:nvPr/>
        </p:nvPicPr>
        <p:blipFill>
          <a:blip r:embed="rId2"/>
          <a:stretch>
            <a:fillRect/>
          </a:stretch>
        </p:blipFill>
        <p:spPr>
          <a:xfrm>
            <a:off x="6446520" y="1737360"/>
            <a:ext cx="5349240" cy="2084832"/>
          </a:xfrm>
          <a:prstGeom prst="rect">
            <a:avLst/>
          </a:prstGeom>
        </p:spPr>
      </p:pic>
      <p:sp>
        <p:nvSpPr>
          <p:cNvPr id="7" name="Text 3"/>
          <p:cNvSpPr/>
          <p:nvPr/>
        </p:nvSpPr>
        <p:spPr>
          <a:xfrm>
            <a:off x="6446520" y="3931920"/>
            <a:ext cx="5349240" cy="50292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It helps most where data is thinnest, and it stops crying wolf:</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false alarms in poor areas fall from 3.2x reality to 1.8x.</a:t>
            </a:r>
            <a:endParaRPr lang="en-US" sz="1200" dirty="0"/>
          </a:p>
        </p:txBody>
      </p:sp>
      <p:sp>
        <p:nvSpPr>
          <p:cNvPr id="8" name="Shape 4"/>
          <p:cNvSpPr/>
          <p:nvPr/>
        </p:nvSpPr>
        <p:spPr>
          <a:xfrm>
            <a:off x="457200" y="5120640"/>
            <a:ext cx="2651760" cy="1005840"/>
          </a:xfrm>
          <a:prstGeom prst="roundRect">
            <a:avLst>
              <a:gd name="adj" fmla="val 6364"/>
            </a:avLst>
          </a:prstGeom>
          <a:solidFill>
            <a:srgbClr val="F4F6FA"/>
          </a:solidFill>
          <a:ln w="12700">
            <a:solidFill>
              <a:srgbClr val="F4F6FA"/>
            </a:solidFill>
            <a:prstDash val="solid"/>
          </a:ln>
        </p:spPr>
      </p:sp>
      <p:sp>
        <p:nvSpPr>
          <p:cNvPr id="9" name="Text 5"/>
          <p:cNvSpPr/>
          <p:nvPr/>
        </p:nvSpPr>
        <p:spPr>
          <a:xfrm>
            <a:off x="45720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53 → 71</a:t>
            </a:r>
            <a:endParaRPr lang="en-US" sz="2700" dirty="0"/>
          </a:p>
        </p:txBody>
      </p:sp>
      <p:sp>
        <p:nvSpPr>
          <p:cNvPr id="10" name="Text 6"/>
          <p:cNvSpPr/>
          <p:nvPr/>
        </p:nvSpPr>
        <p:spPr>
          <a:xfrm>
            <a:off x="45720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overall skill</a:t>
            </a:r>
            <a:endParaRPr lang="en-US" sz="1150" dirty="0"/>
          </a:p>
        </p:txBody>
      </p:sp>
      <p:sp>
        <p:nvSpPr>
          <p:cNvPr id="11" name="Shape 7"/>
          <p:cNvSpPr/>
          <p:nvPr/>
        </p:nvSpPr>
        <p:spPr>
          <a:xfrm>
            <a:off x="3291840" y="5120640"/>
            <a:ext cx="2651760" cy="1005840"/>
          </a:xfrm>
          <a:prstGeom prst="roundRect">
            <a:avLst>
              <a:gd name="adj" fmla="val 6364"/>
            </a:avLst>
          </a:prstGeom>
          <a:solidFill>
            <a:srgbClr val="F4F6FA"/>
          </a:solidFill>
          <a:ln w="12700">
            <a:solidFill>
              <a:srgbClr val="F4F6FA"/>
            </a:solidFill>
            <a:prstDash val="solid"/>
          </a:ln>
        </p:spPr>
      </p:sp>
      <p:sp>
        <p:nvSpPr>
          <p:cNvPr id="12" name="Text 8"/>
          <p:cNvSpPr/>
          <p:nvPr/>
        </p:nvSpPr>
        <p:spPr>
          <a:xfrm>
            <a:off x="329184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51 → 58</a:t>
            </a:r>
            <a:endParaRPr lang="en-US" sz="2700" dirty="0"/>
          </a:p>
        </p:txBody>
      </p:sp>
      <p:sp>
        <p:nvSpPr>
          <p:cNvPr id="13" name="Text 9"/>
          <p:cNvSpPr/>
          <p:nvPr/>
        </p:nvSpPr>
        <p:spPr>
          <a:xfrm>
            <a:off x="329184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skill in poor areas</a:t>
            </a:r>
            <a:endParaRPr lang="en-US" sz="1150" dirty="0"/>
          </a:p>
        </p:txBody>
      </p:sp>
      <p:sp>
        <p:nvSpPr>
          <p:cNvPr id="14" name="Shape 10"/>
          <p:cNvSpPr/>
          <p:nvPr/>
        </p:nvSpPr>
        <p:spPr>
          <a:xfrm>
            <a:off x="6126480" y="5120640"/>
            <a:ext cx="2651760" cy="1005840"/>
          </a:xfrm>
          <a:prstGeom prst="roundRect">
            <a:avLst>
              <a:gd name="adj" fmla="val 6364"/>
            </a:avLst>
          </a:prstGeom>
          <a:solidFill>
            <a:srgbClr val="F4F6FA"/>
          </a:solidFill>
          <a:ln w="12700">
            <a:solidFill>
              <a:srgbClr val="F4F6FA"/>
            </a:solidFill>
            <a:prstDash val="solid"/>
          </a:ln>
        </p:spPr>
      </p:sp>
      <p:sp>
        <p:nvSpPr>
          <p:cNvPr id="15" name="Text 11"/>
          <p:cNvSpPr/>
          <p:nvPr/>
        </p:nvSpPr>
        <p:spPr>
          <a:xfrm>
            <a:off x="6126480" y="5202936"/>
            <a:ext cx="265176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3.2x → 1.8x</a:t>
            </a:r>
            <a:endParaRPr lang="en-US" sz="2700" dirty="0"/>
          </a:p>
        </p:txBody>
      </p:sp>
      <p:sp>
        <p:nvSpPr>
          <p:cNvPr id="16" name="Text 12"/>
          <p:cNvSpPr/>
          <p:nvPr/>
        </p:nvSpPr>
        <p:spPr>
          <a:xfrm>
            <a:off x="6126480" y="5724144"/>
            <a:ext cx="265176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false alarms there</a:t>
            </a:r>
            <a:endParaRPr lang="en-US" sz="1150" dirty="0"/>
          </a:p>
        </p:txBody>
      </p:sp>
      <p:sp>
        <p:nvSpPr>
          <p:cNvPr id="17" name="Shape 13"/>
          <p:cNvSpPr/>
          <p:nvPr/>
        </p:nvSpPr>
        <p:spPr>
          <a:xfrm>
            <a:off x="8961120" y="5120640"/>
            <a:ext cx="2743200" cy="1005840"/>
          </a:xfrm>
          <a:prstGeom prst="roundRect">
            <a:avLst>
              <a:gd name="adj" fmla="val 6364"/>
            </a:avLst>
          </a:prstGeom>
          <a:solidFill>
            <a:srgbClr val="F4F6FA"/>
          </a:solidFill>
          <a:ln w="12700">
            <a:solidFill>
              <a:srgbClr val="F4F6FA"/>
            </a:solidFill>
            <a:prstDash val="solid"/>
          </a:ln>
        </p:spPr>
      </p:sp>
      <p:sp>
        <p:nvSpPr>
          <p:cNvPr id="18" name="Text 14"/>
          <p:cNvSpPr/>
          <p:nvPr/>
        </p:nvSpPr>
        <p:spPr>
          <a:xfrm>
            <a:off x="8961120" y="5202936"/>
            <a:ext cx="2743200" cy="530352"/>
          </a:xfrm>
          <a:prstGeom prst="rect">
            <a:avLst/>
          </a:prstGeom>
          <a:noFill/>
          <a:ln/>
        </p:spPr>
        <p:txBody>
          <a:bodyPr wrap="square" lIns="0" tIns="0" rIns="0" bIns="0" rtlCol="0" anchor="ctr"/>
          <a:lstStyle/>
          <a:p>
            <a:pPr algn="ctr" indent="0" marL="0">
              <a:buNone/>
            </a:pPr>
            <a:r>
              <a:rPr lang="en-US" sz="2700" b="1" dirty="0">
                <a:solidFill>
                  <a:srgbClr val="1E8449"/>
                </a:solidFill>
                <a:latin typeface="Calibri" pitchFamily="34" charset="0"/>
                <a:ea typeface="Calibri" pitchFamily="34" charset="-122"/>
                <a:cs typeface="Calibri" pitchFamily="34" charset="-120"/>
              </a:rPr>
              <a:t>−23%</a:t>
            </a:r>
            <a:endParaRPr lang="en-US" sz="2700" dirty="0"/>
          </a:p>
        </p:txBody>
      </p:sp>
      <p:sp>
        <p:nvSpPr>
          <p:cNvPr id="19" name="Text 15"/>
          <p:cNvSpPr/>
          <p:nvPr/>
        </p:nvSpPr>
        <p:spPr>
          <a:xfrm>
            <a:off x="8961120" y="5724144"/>
            <a:ext cx="2743200" cy="329184"/>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size of errors</a:t>
            </a:r>
            <a:endParaRPr lang="en-US" sz="1150" dirty="0"/>
          </a:p>
        </p:txBody>
      </p:sp>
      <p:sp>
        <p:nvSpPr>
          <p:cNvPr id="20" name="Shape 16"/>
          <p:cNvSpPr/>
          <p:nvPr/>
        </p:nvSpPr>
        <p:spPr>
          <a:xfrm>
            <a:off x="457200" y="6272784"/>
            <a:ext cx="11247120" cy="530352"/>
          </a:xfrm>
          <a:prstGeom prst="roundRect">
            <a:avLst>
              <a:gd name="adj" fmla="val 12069"/>
            </a:avLst>
          </a:prstGeom>
          <a:solidFill>
            <a:srgbClr val="FEF9E7"/>
          </a:solidFill>
          <a:ln w="12700">
            <a:solidFill>
              <a:srgbClr val="FEF9E7"/>
            </a:solidFill>
            <a:prstDash val="solid"/>
          </a:ln>
        </p:spPr>
      </p:sp>
      <p:sp>
        <p:nvSpPr>
          <p:cNvPr id="21" name="Text 17"/>
          <p:cNvSpPr/>
          <p:nvPr/>
        </p:nvSpPr>
        <p:spPr>
          <a:xfrm>
            <a:off x="713232" y="6345936"/>
            <a:ext cx="10835640" cy="411480"/>
          </a:xfrm>
          <a:prstGeom prst="rect">
            <a:avLst/>
          </a:prstGeom>
          <a:noFill/>
          <a:ln/>
        </p:spPr>
        <p:txBody>
          <a:bodyPr wrap="square" lIns="0" tIns="0" rIns="0" bIns="0" rtlCol="0" anchor="ctr"/>
          <a:lstStyle/>
          <a:p>
            <a:pPr indent="0" marL="0">
              <a:buNone/>
            </a:pPr>
            <a:r>
              <a:rPr lang="en-US" sz="1250" b="1" dirty="0">
                <a:solidFill>
                  <a:srgbClr val="7D6608"/>
                </a:solidFill>
                <a:latin typeface="Calibri" pitchFamily="34" charset="0"/>
                <a:ea typeface="Calibri" pitchFamily="34" charset="-122"/>
                <a:cs typeface="Calibri" pitchFamily="34" charset="-120"/>
              </a:rPr>
              <a:t>Honest limit: it learned WHERE burglary happens, not WHEN — like knowing it rains a lot in London without knowing about next Tuesday.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We let the model choose the bar itself</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The professor suggested adaptive thresholds — not a fixed rule, but a bar the model decides from the data</a:t>
            </a:r>
            <a:endParaRPr lang="en-US" sz="1450" dirty="0"/>
          </a:p>
        </p:txBody>
      </p:sp>
      <p:pic>
        <p:nvPicPr>
          <p:cNvPr id="4" name="Image 0" descr="slides/t1_armA.png">    </p:cNvPr>
          <p:cNvPicPr>
            <a:picLocks noChangeAspect="1"/>
          </p:cNvPicPr>
          <p:nvPr/>
        </p:nvPicPr>
        <p:blipFill>
          <a:blip r:embed="rId1"/>
          <a:stretch>
            <a:fillRect/>
          </a:stretch>
        </p:blipFill>
        <p:spPr>
          <a:xfrm>
            <a:off x="411480" y="1316736"/>
            <a:ext cx="6858000" cy="3072384"/>
          </a:xfrm>
          <a:prstGeom prst="rect">
            <a:avLst/>
          </a:prstGeom>
        </p:spPr>
      </p:pic>
      <p:sp>
        <p:nvSpPr>
          <p:cNvPr id="5" name="Text 2"/>
          <p:cNvSpPr/>
          <p:nvPr/>
        </p:nvSpPr>
        <p:spPr>
          <a:xfrm>
            <a:off x="411480" y="4443984"/>
            <a:ext cx="6858000" cy="475488"/>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Arm A: we told it "get the best score you can in every group." It chose a HIGHER bar for poor areas, so far fewer real crimes there were caught.</a:t>
            </a:r>
            <a:endParaRPr lang="en-US" sz="1200" dirty="0"/>
          </a:p>
        </p:txBody>
      </p:sp>
      <p:pic>
        <p:nvPicPr>
          <p:cNvPr id="6" name="Image 1" descr="slides/t2_arms.png">    </p:cNvPr>
          <p:cNvPicPr>
            <a:picLocks noChangeAspect="1"/>
          </p:cNvPicPr>
          <p:nvPr/>
        </p:nvPicPr>
        <p:blipFill>
          <a:blip r:embed="rId2"/>
          <a:stretch>
            <a:fillRect/>
          </a:stretch>
        </p:blipFill>
        <p:spPr>
          <a:xfrm>
            <a:off x="411480" y="4956048"/>
            <a:ext cx="6858000" cy="1737360"/>
          </a:xfrm>
          <a:prstGeom prst="rect">
            <a:avLst/>
          </a:prstGeom>
        </p:spPr>
      </p:pic>
      <p:sp>
        <p:nvSpPr>
          <p:cNvPr id="7" name="Shape 3"/>
          <p:cNvSpPr/>
          <p:nvPr/>
        </p:nvSpPr>
        <p:spPr>
          <a:xfrm>
            <a:off x="7543800" y="1371600"/>
            <a:ext cx="4160520" cy="1481328"/>
          </a:xfrm>
          <a:prstGeom prst="roundRect">
            <a:avLst>
              <a:gd name="adj" fmla="val 4321"/>
            </a:avLst>
          </a:prstGeom>
          <a:solidFill>
            <a:srgbClr val="FDF2F0"/>
          </a:solidFill>
          <a:ln w="12700">
            <a:solidFill>
              <a:srgbClr val="FDF2F0"/>
            </a:solidFill>
            <a:prstDash val="solid"/>
          </a:ln>
        </p:spPr>
      </p:sp>
      <p:sp>
        <p:nvSpPr>
          <p:cNvPr id="8" name="Text 4"/>
          <p:cNvSpPr/>
          <p:nvPr/>
        </p:nvSpPr>
        <p:spPr>
          <a:xfrm>
            <a:off x="7772400" y="1481328"/>
            <a:ext cx="3749040" cy="274320"/>
          </a:xfrm>
          <a:prstGeom prst="rect">
            <a:avLst/>
          </a:prstGeom>
          <a:noFill/>
          <a:ln/>
        </p:spPr>
        <p:txBody>
          <a:bodyPr wrap="square" lIns="0" tIns="0" rIns="0" bIns="0" rtlCol="0" anchor="ctr"/>
          <a:lstStyle/>
          <a:p>
            <a:pPr indent="0" marL="0">
              <a:buNone/>
            </a:pPr>
            <a:r>
              <a:rPr lang="en-US" sz="1150" b="1" dirty="0">
                <a:solidFill>
                  <a:srgbClr val="7B241C"/>
                </a:solidFill>
                <a:latin typeface="Calibri" pitchFamily="34" charset="0"/>
                <a:ea typeface="Calibri" pitchFamily="34" charset="-122"/>
                <a:cs typeface="Calibri" pitchFamily="34" charset="-120"/>
              </a:rPr>
              <a:t>ARM A — ACTIVELY HARMFUL</a:t>
            </a:r>
            <a:endParaRPr lang="en-US" sz="1150" dirty="0"/>
          </a:p>
        </p:txBody>
      </p:sp>
      <p:sp>
        <p:nvSpPr>
          <p:cNvPr id="9" name="Text 5"/>
          <p:cNvSpPr/>
          <p:nvPr/>
        </p:nvSpPr>
        <p:spPr>
          <a:xfrm>
            <a:off x="7772400" y="1755648"/>
            <a:ext cx="3749040" cy="105156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Chasing the score opened a 35.6 point gap in crimes caught — on data where every group was equally easy to predict. The fix caused the harm.</a:t>
            </a:r>
            <a:endParaRPr lang="en-US" sz="1300" dirty="0"/>
          </a:p>
        </p:txBody>
      </p:sp>
      <p:sp>
        <p:nvSpPr>
          <p:cNvPr id="10" name="Shape 6"/>
          <p:cNvSpPr/>
          <p:nvPr/>
        </p:nvSpPr>
        <p:spPr>
          <a:xfrm>
            <a:off x="7543800" y="2999232"/>
            <a:ext cx="4160520" cy="1481328"/>
          </a:xfrm>
          <a:prstGeom prst="roundRect">
            <a:avLst>
              <a:gd name="adj" fmla="val 4321"/>
            </a:avLst>
          </a:prstGeom>
          <a:solidFill>
            <a:srgbClr val="EAF3EC"/>
          </a:solidFill>
          <a:ln w="12700">
            <a:solidFill>
              <a:srgbClr val="EAF3EC"/>
            </a:solidFill>
            <a:prstDash val="solid"/>
          </a:ln>
        </p:spPr>
      </p:sp>
      <p:sp>
        <p:nvSpPr>
          <p:cNvPr id="11" name="Text 7"/>
          <p:cNvSpPr/>
          <p:nvPr/>
        </p:nvSpPr>
        <p:spPr>
          <a:xfrm>
            <a:off x="7772400" y="3108960"/>
            <a:ext cx="3749040" cy="274320"/>
          </a:xfrm>
          <a:prstGeom prst="rect">
            <a:avLst/>
          </a:prstGeom>
          <a:noFill/>
          <a:ln/>
        </p:spPr>
        <p:txBody>
          <a:bodyPr wrap="square" lIns="0" tIns="0" rIns="0" bIns="0" rtlCol="0" anchor="ctr"/>
          <a:lstStyle/>
          <a:p>
            <a:pPr indent="0" marL="0">
              <a:buNone/>
            </a:pPr>
            <a:r>
              <a:rPr lang="en-US" sz="1150" b="1" dirty="0">
                <a:solidFill>
                  <a:srgbClr val="145A32"/>
                </a:solidFill>
                <a:latin typeface="Calibri" pitchFamily="34" charset="0"/>
                <a:ea typeface="Calibri" pitchFamily="34" charset="-122"/>
                <a:cs typeface="Calibri" pitchFamily="34" charset="-120"/>
              </a:rPr>
              <a:t>ARM B — HONEST, BUT NOT A FIX</a:t>
            </a:r>
            <a:endParaRPr lang="en-US" sz="1150" dirty="0"/>
          </a:p>
        </p:txBody>
      </p:sp>
      <p:sp>
        <p:nvSpPr>
          <p:cNvPr id="12" name="Text 8"/>
          <p:cNvSpPr/>
          <p:nvPr/>
        </p:nvSpPr>
        <p:spPr>
          <a:xfrm>
            <a:off x="7772400" y="3383280"/>
            <a:ext cx="3749040" cy="105156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Matching false alarms instead kept the gap at −1.57. Correct — but it adds no skill. It only stops us fooling ourselves.</a:t>
            </a:r>
            <a:endParaRPr lang="en-US" sz="1300" dirty="0"/>
          </a:p>
        </p:txBody>
      </p:sp>
      <p:sp>
        <p:nvSpPr>
          <p:cNvPr id="13" name="Shape 9"/>
          <p:cNvSpPr/>
          <p:nvPr/>
        </p:nvSpPr>
        <p:spPr>
          <a:xfrm>
            <a:off x="7543800" y="4626864"/>
            <a:ext cx="4160520" cy="1481328"/>
          </a:xfrm>
          <a:prstGeom prst="roundRect">
            <a:avLst>
              <a:gd name="adj" fmla="val 4321"/>
            </a:avLst>
          </a:prstGeom>
          <a:solidFill>
            <a:srgbClr val="F4F6FA"/>
          </a:solidFill>
          <a:ln w="12700">
            <a:solidFill>
              <a:srgbClr val="F4F6FA"/>
            </a:solidFill>
            <a:prstDash val="solid"/>
          </a:ln>
        </p:spPr>
      </p:sp>
      <p:sp>
        <p:nvSpPr>
          <p:cNvPr id="14" name="Text 10"/>
          <p:cNvSpPr/>
          <p:nvPr/>
        </p:nvSpPr>
        <p:spPr>
          <a:xfrm>
            <a:off x="7772400" y="4736592"/>
            <a:ext cx="3749040" cy="274320"/>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THE GIVEAWAY</a:t>
            </a:r>
            <a:endParaRPr lang="en-US" sz="1150" dirty="0"/>
          </a:p>
        </p:txBody>
      </p:sp>
      <p:sp>
        <p:nvSpPr>
          <p:cNvPr id="15" name="Text 11"/>
          <p:cNvSpPr/>
          <p:nvPr/>
        </p:nvSpPr>
        <p:spPr>
          <a:xfrm>
            <a:off x="7772400" y="5010912"/>
            <a:ext cx="3749040" cy="1051560"/>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AUC moved by 0.07 in all three — essentially nothing. The model never changed. Only the bar moved, and the score followed.</a:t>
            </a:r>
            <a:endParaRPr lang="en-US" sz="1300" dirty="0"/>
          </a:p>
        </p:txBody>
      </p:sp>
      <p:sp>
        <p:nvSpPr>
          <p:cNvPr id="16" name="Shape 12"/>
          <p:cNvSpPr/>
          <p:nvPr/>
        </p:nvSpPr>
        <p:spPr>
          <a:xfrm>
            <a:off x="457200" y="6784848"/>
            <a:ext cx="11247120" cy="0"/>
          </a:xfrm>
          <a:prstGeom prst="roundRect">
            <a:avLst>
              <a:gd name="adj" fmla="val Infinity"/>
            </a:avLst>
          </a:prstGeom>
          <a:solidFill>
            <a:srgbClr val="F4F6FA"/>
          </a:solidFill>
          <a:ln w="12700">
            <a:solidFill>
              <a:srgbClr val="F4F6F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11064240" cy="640080"/>
          </a:xfrm>
          <a:prstGeom prst="rect">
            <a:avLst/>
          </a:prstGeom>
          <a:noFill/>
          <a:ln/>
        </p:spPr>
        <p:txBody>
          <a:bodyPr wrap="square"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We tested the fairness tools everyone uses</a:t>
            </a:r>
            <a:endParaRPr lang="en-US" sz="3300" dirty="0"/>
          </a:p>
        </p:txBody>
      </p:sp>
      <p:sp>
        <p:nvSpPr>
          <p:cNvPr id="3" name="Text 1"/>
          <p:cNvSpPr/>
          <p:nvPr/>
        </p:nvSpPr>
        <p:spPr>
          <a:xfrm>
            <a:off x="548640" y="905256"/>
            <a:ext cx="11064240" cy="365760"/>
          </a:xfrm>
          <a:prstGeom prst="rect">
            <a:avLst/>
          </a:prstGeom>
          <a:noFill/>
          <a:ln/>
        </p:spPr>
        <p:txBody>
          <a:bodyPr wrap="square" rtlCol="0" anchor="ctr"/>
          <a:lstStyle/>
          <a:p>
            <a:pPr indent="0" marL="0">
              <a:buNone/>
            </a:pPr>
            <a:r>
              <a:rPr lang="en-US" sz="1450" dirty="0">
                <a:solidFill>
                  <a:srgbClr val="5A5A5A"/>
                </a:solidFill>
                <a:latin typeface="Calibri" pitchFamily="34" charset="0"/>
                <a:ea typeface="Calibri" pitchFamily="34" charset="-122"/>
                <a:cs typeface="Calibri" pitchFamily="34" charset="-120"/>
              </a:rPr>
              <a:t>Fairlearn (Microsoft) and AIF360 (IBM). We gave them data where all groups were equally well served, and watched what they did.</a:t>
            </a:r>
            <a:endParaRPr lang="en-US" sz="1450" dirty="0"/>
          </a:p>
        </p:txBody>
      </p:sp>
      <p:pic>
        <p:nvPicPr>
          <p:cNvPr id="4" name="Image 0" descr="slides/t3_metrics.png">    </p:cNvPr>
          <p:cNvPicPr>
            <a:picLocks noChangeAspect="1"/>
          </p:cNvPicPr>
          <p:nvPr/>
        </p:nvPicPr>
        <p:blipFill>
          <a:blip r:embed="rId1"/>
          <a:stretch>
            <a:fillRect/>
          </a:stretch>
        </p:blipFill>
        <p:spPr>
          <a:xfrm>
            <a:off x="411480" y="1335024"/>
            <a:ext cx="5989320" cy="3035808"/>
          </a:xfrm>
          <a:prstGeom prst="rect">
            <a:avLst/>
          </a:prstGeom>
        </p:spPr>
      </p:pic>
      <p:sp>
        <p:nvSpPr>
          <p:cNvPr id="5" name="Text 2"/>
          <p:cNvSpPr/>
          <p:nvPr/>
        </p:nvSpPr>
        <p:spPr>
          <a:xfrm>
            <a:off x="411480" y="4425696"/>
            <a:ext cx="5989320" cy="548640"/>
          </a:xfrm>
          <a:prstGeom prst="rect">
            <a:avLst/>
          </a:prstGeom>
          <a:noFill/>
          <a:ln/>
        </p:spPr>
        <p:txBody>
          <a:bodyPr wrap="square"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We built the data so every group had exactly the same skill. Only the amount of crime differed.</a:t>
            </a:r>
            <a:endParaRPr lang="en-US" sz="1200" dirty="0"/>
          </a:p>
          <a:p>
            <a:pPr indent="0" marL="0">
              <a:buNone/>
            </a:pPr>
            <a:r>
              <a:rPr lang="en-US" sz="1200" i="1" dirty="0">
                <a:solidFill>
                  <a:srgbClr val="5A5A5A"/>
                </a:solidFill>
                <a:latin typeface="Calibri" pitchFamily="34" charset="0"/>
                <a:ea typeface="Calibri" pitchFamily="34" charset="-122"/>
                <a:cs typeface="Calibri" pitchFamily="34" charset="-120"/>
              </a:rPr>
              <a:t>The honest answer is "nothing to fix." Precision reported a 52.67 point problem.</a:t>
            </a:r>
            <a:endParaRPr lang="en-US" sz="1200" dirty="0"/>
          </a:p>
        </p:txBody>
      </p:sp>
      <p:pic>
        <p:nvPicPr>
          <p:cNvPr id="6" name="Image 1" descr="slides/t4_tools.png">    </p:cNvPr>
          <p:cNvPicPr>
            <a:picLocks noChangeAspect="1"/>
          </p:cNvPicPr>
          <p:nvPr/>
        </p:nvPicPr>
        <p:blipFill>
          <a:blip r:embed="rId2"/>
          <a:stretch>
            <a:fillRect/>
          </a:stretch>
        </p:blipFill>
        <p:spPr>
          <a:xfrm>
            <a:off x="411480" y="5010912"/>
            <a:ext cx="11292840" cy="1481328"/>
          </a:xfrm>
          <a:prstGeom prst="rect">
            <a:avLst/>
          </a:prstGeom>
        </p:spPr>
      </p:pic>
      <p:sp>
        <p:nvSpPr>
          <p:cNvPr id="7" name="Shape 3"/>
          <p:cNvSpPr/>
          <p:nvPr/>
        </p:nvSpPr>
        <p:spPr>
          <a:xfrm>
            <a:off x="6629400" y="1371600"/>
            <a:ext cx="5074920" cy="1417320"/>
          </a:xfrm>
          <a:prstGeom prst="roundRect">
            <a:avLst>
              <a:gd name="adj" fmla="val 4516"/>
            </a:avLst>
          </a:prstGeom>
          <a:solidFill>
            <a:srgbClr val="FDF2F0"/>
          </a:solidFill>
          <a:ln w="12700">
            <a:solidFill>
              <a:srgbClr val="FDF2F0"/>
            </a:solidFill>
            <a:prstDash val="solid"/>
          </a:ln>
        </p:spPr>
      </p:sp>
      <p:sp>
        <p:nvSpPr>
          <p:cNvPr id="8" name="Text 4"/>
          <p:cNvSpPr/>
          <p:nvPr/>
        </p:nvSpPr>
        <p:spPr>
          <a:xfrm>
            <a:off x="6858000" y="1481328"/>
            <a:ext cx="4663440" cy="274320"/>
          </a:xfrm>
          <a:prstGeom prst="rect">
            <a:avLst/>
          </a:prstGeom>
          <a:noFill/>
          <a:ln/>
        </p:spPr>
        <p:txBody>
          <a:bodyPr wrap="square" lIns="0" tIns="0" rIns="0" bIns="0" rtlCol="0" anchor="ctr"/>
          <a:lstStyle/>
          <a:p>
            <a:pPr indent="0" marL="0">
              <a:buNone/>
            </a:pPr>
            <a:r>
              <a:rPr lang="en-US" sz="1150" b="1" dirty="0">
                <a:solidFill>
                  <a:srgbClr val="7B241C"/>
                </a:solidFill>
                <a:latin typeface="Calibri" pitchFamily="34" charset="0"/>
                <a:ea typeface="Calibri" pitchFamily="34" charset="-122"/>
                <a:cs typeface="Calibri" pitchFamily="34" charset="-120"/>
              </a:rPr>
              <a:t>THE DEFAULT SETTING IS THE BAD ONE</a:t>
            </a:r>
            <a:endParaRPr lang="en-US" sz="1150" dirty="0"/>
          </a:p>
        </p:txBody>
      </p:sp>
      <p:sp>
        <p:nvSpPr>
          <p:cNvPr id="9" name="Text 5"/>
          <p:cNvSpPr/>
          <p:nvPr/>
        </p:nvSpPr>
        <p:spPr>
          <a:xfrm>
            <a:off x="6858000" y="1755648"/>
            <a:ext cx="4663440" cy="987552"/>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Fairlearn’s default opened a 21 point gap in crimes caught where there was none. A user who changes nothing gets this.</a:t>
            </a:r>
            <a:endParaRPr lang="en-US" sz="1300" dirty="0"/>
          </a:p>
        </p:txBody>
      </p:sp>
      <p:sp>
        <p:nvSpPr>
          <p:cNvPr id="10" name="Shape 6"/>
          <p:cNvSpPr/>
          <p:nvPr/>
        </p:nvSpPr>
        <p:spPr>
          <a:xfrm>
            <a:off x="6629400" y="2926080"/>
            <a:ext cx="5074920" cy="1417320"/>
          </a:xfrm>
          <a:prstGeom prst="roundRect">
            <a:avLst>
              <a:gd name="adj" fmla="val 4516"/>
            </a:avLst>
          </a:prstGeom>
          <a:solidFill>
            <a:srgbClr val="FDF2F0"/>
          </a:solidFill>
          <a:ln w="12700">
            <a:solidFill>
              <a:srgbClr val="FDF2F0"/>
            </a:solidFill>
            <a:prstDash val="solid"/>
          </a:ln>
        </p:spPr>
      </p:sp>
      <p:sp>
        <p:nvSpPr>
          <p:cNvPr id="11" name="Text 7"/>
          <p:cNvSpPr/>
          <p:nvPr/>
        </p:nvSpPr>
        <p:spPr>
          <a:xfrm>
            <a:off x="6858000" y="3035808"/>
            <a:ext cx="4663440" cy="274320"/>
          </a:xfrm>
          <a:prstGeom prst="rect">
            <a:avLst/>
          </a:prstGeom>
          <a:noFill/>
          <a:ln/>
        </p:spPr>
        <p:txBody>
          <a:bodyPr wrap="square" lIns="0" tIns="0" rIns="0" bIns="0" rtlCol="0" anchor="ctr"/>
          <a:lstStyle/>
          <a:p>
            <a:pPr indent="0" marL="0">
              <a:buNone/>
            </a:pPr>
            <a:r>
              <a:rPr lang="en-US" sz="1150" b="1" dirty="0">
                <a:solidFill>
                  <a:srgbClr val="7B241C"/>
                </a:solidFill>
                <a:latin typeface="Calibri" pitchFamily="34" charset="0"/>
                <a:ea typeface="Calibri" pitchFamily="34" charset="-122"/>
                <a:cs typeface="Calibri" pitchFamily="34" charset="-120"/>
              </a:rPr>
              <a:t>IBM’S TOOL FLAGGED 3x MORE</a:t>
            </a:r>
            <a:endParaRPr lang="en-US" sz="1150" dirty="0"/>
          </a:p>
        </p:txBody>
      </p:sp>
      <p:sp>
        <p:nvSpPr>
          <p:cNvPr id="12" name="Text 8"/>
          <p:cNvSpPr/>
          <p:nvPr/>
        </p:nvSpPr>
        <p:spPr>
          <a:xfrm>
            <a:off x="6858000" y="3310128"/>
            <a:ext cx="4663440" cy="987552"/>
          </a:xfrm>
          <a:prstGeom prst="rect">
            <a:avLst/>
          </a:prstGeom>
          <a:noFill/>
          <a:ln/>
        </p:spPr>
        <p:txBody>
          <a:bodyPr wrap="square" lIns="0" tIns="0" rIns="0" bIns="0" rtlCol="0" anchor="ctr"/>
          <a:lstStyle/>
          <a:p>
            <a:pPr indent="0" marL="0">
              <a:lnSpc>
                <a:spcPts val="1600"/>
              </a:lnSpc>
              <a:buNone/>
            </a:pPr>
            <a:r>
              <a:rPr lang="en-US" sz="1300" dirty="0">
                <a:solidFill>
                  <a:srgbClr val="222222"/>
                </a:solidFill>
                <a:latin typeface="Calibri" pitchFamily="34" charset="0"/>
                <a:ea typeface="Calibri" pitchFamily="34" charset="-122"/>
                <a:cs typeface="Calibri" pitchFamily="34" charset="-120"/>
              </a:rPr>
              <a:t>AIF360 took wrongly-flagged crime-free places in poor areas from 13.5% to 41.6% — to close a gap that was never real.</a:t>
            </a:r>
            <a:endParaRPr lang="en-US" sz="1300" dirty="0"/>
          </a:p>
        </p:txBody>
      </p:sp>
      <p:sp>
        <p:nvSpPr>
          <p:cNvPr id="13" name="Shape 9"/>
          <p:cNvSpPr/>
          <p:nvPr/>
        </p:nvSpPr>
        <p:spPr>
          <a:xfrm>
            <a:off x="6629400" y="4480560"/>
            <a:ext cx="5074920" cy="457200"/>
          </a:xfrm>
          <a:prstGeom prst="roundRect">
            <a:avLst>
              <a:gd name="adj" fmla="val 14000"/>
            </a:avLst>
          </a:prstGeom>
          <a:solidFill>
            <a:srgbClr val="EAF3EC"/>
          </a:solidFill>
          <a:ln w="12700">
            <a:solidFill>
              <a:srgbClr val="EAF3EC"/>
            </a:solidFill>
            <a:prstDash val="solid"/>
          </a:ln>
        </p:spPr>
      </p:sp>
      <p:sp>
        <p:nvSpPr>
          <p:cNvPr id="14" name="Text 10"/>
          <p:cNvSpPr/>
          <p:nvPr/>
        </p:nvSpPr>
        <p:spPr>
          <a:xfrm>
            <a:off x="6858000" y="4553712"/>
            <a:ext cx="4663440" cy="329184"/>
          </a:xfrm>
          <a:prstGeom prst="rect">
            <a:avLst/>
          </a:prstGeom>
          <a:noFill/>
          <a:ln/>
        </p:spPr>
        <p:txBody>
          <a:bodyPr wrap="square" lIns="0" tIns="0" rIns="0" bIns="0" rtlCol="0" anchor="ctr"/>
          <a:lstStyle/>
          <a:p>
            <a:pPr indent="0" marL="0">
              <a:buNone/>
            </a:pPr>
            <a:r>
              <a:rPr lang="en-US" sz="1200" b="1" dirty="0">
                <a:solidFill>
                  <a:srgbClr val="145A32"/>
                </a:solidFill>
                <a:latin typeface="Calibri" pitchFamily="34" charset="0"/>
                <a:ea typeface="Calibri" pitchFamily="34" charset="-122"/>
                <a:cs typeface="Calibri" pitchFamily="34" charset="-120"/>
              </a:rPr>
              <a:t>Verified: same numbers on Kaggle and locally, 5 seeds.</a:t>
            </a:r>
            <a:endParaRPr lang="en-US" sz="1200" dirty="0"/>
          </a:p>
        </p:txBody>
      </p:sp>
      <p:sp>
        <p:nvSpPr>
          <p:cNvPr id="15" name="Shape 11"/>
          <p:cNvSpPr/>
          <p:nvPr/>
        </p:nvSpPr>
        <p:spPr>
          <a:xfrm>
            <a:off x="457200" y="6583680"/>
            <a:ext cx="0" cy="1005840"/>
          </a:xfrm>
          <a:prstGeom prst="roundRect">
            <a:avLst>
              <a:gd name="adj" fmla="val Infinity"/>
            </a:avLst>
          </a:prstGeom>
          <a:solidFill>
            <a:srgbClr val="F4F6FA"/>
          </a:solidFill>
          <a:ln w="12700">
            <a:solidFill>
              <a:srgbClr val="F4F6FA"/>
            </a:solidFill>
            <a:prstDash val="solid"/>
          </a:ln>
        </p:spPr>
      </p:sp>
      <p:sp>
        <p:nvSpPr>
          <p:cNvPr id="16" name="Text 12"/>
          <p:cNvSpPr/>
          <p:nvPr/>
        </p:nvSpPr>
        <p:spPr>
          <a:xfrm>
            <a:off x="457200" y="6665976"/>
            <a:ext cx="0" cy="530352"/>
          </a:xfrm>
          <a:prstGeom prst="rect">
            <a:avLst/>
          </a:prstGeom>
          <a:noFill/>
          <a:ln/>
        </p:spPr>
        <p:txBody>
          <a:bodyPr wrap="square" lIns="0" tIns="0" rIns="0" bIns="0" rtlCol="0" anchor="ctr"/>
          <a:lstStyle/>
          <a:p>
            <a:pPr algn="ctr" indent="0" marL="0">
              <a:buNone/>
            </a:pPr>
            <a:endParaRPr lang="en-US" sz="2700" dirty="0"/>
          </a:p>
        </p:txBody>
      </p:sp>
      <p:sp>
        <p:nvSpPr>
          <p:cNvPr id="17" name="Text 13"/>
          <p:cNvSpPr/>
          <p:nvPr/>
        </p:nvSpPr>
        <p:spPr>
          <a:xfrm>
            <a:off x="457200" y="7187184"/>
            <a:ext cx="0" cy="329184"/>
          </a:xfrm>
          <a:prstGeom prst="rect">
            <a:avLst/>
          </a:prstGeom>
          <a:noFill/>
          <a:ln/>
        </p:spPr>
        <p:txBody>
          <a:bodyPr wrap="square" lIns="0" tIns="0" rIns="0" bIns="0" rtlCol="0" anchor="ctr"/>
          <a:lstStyle/>
          <a:p>
            <a:pPr algn="ctr" indent="0" marL="0">
              <a:buNone/>
            </a:pP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Where this leaves us</a:t>
            </a:r>
            <a:endParaRPr lang="en-US" sz="3600" dirty="0"/>
          </a:p>
        </p:txBody>
      </p:sp>
      <p:sp>
        <p:nvSpPr>
          <p:cNvPr id="3" name="Text 1"/>
          <p:cNvSpPr/>
          <p:nvPr/>
        </p:nvSpPr>
        <p:spPr>
          <a:xfrm>
            <a:off x="640080" y="1051560"/>
            <a:ext cx="10881360" cy="347472"/>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One finding, shown four separate ways</a:t>
            </a:r>
            <a:endParaRPr lang="en-US" sz="1500" dirty="0"/>
          </a:p>
        </p:txBody>
      </p:sp>
      <p:sp>
        <p:nvSpPr>
          <p:cNvPr id="4" name="Shape 2"/>
          <p:cNvSpPr/>
          <p:nvPr/>
        </p:nvSpPr>
        <p:spPr>
          <a:xfrm>
            <a:off x="640080" y="1691640"/>
            <a:ext cx="11064240" cy="786384"/>
          </a:xfrm>
          <a:prstGeom prst="roundRect">
            <a:avLst>
              <a:gd name="adj" fmla="val 8140"/>
            </a:avLst>
          </a:prstGeom>
          <a:solidFill>
            <a:srgbClr val="2A3570"/>
          </a:solidFill>
          <a:ln w="12700">
            <a:solidFill>
              <a:srgbClr val="2A3570"/>
            </a:solidFill>
            <a:prstDash val="solid"/>
          </a:ln>
        </p:spPr>
      </p:sp>
      <p:sp>
        <p:nvSpPr>
          <p:cNvPr id="5" name="Text 3"/>
          <p:cNvSpPr/>
          <p:nvPr/>
        </p:nvSpPr>
        <p:spPr>
          <a:xfrm>
            <a:off x="914400" y="1874520"/>
            <a:ext cx="320040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Graph models</a:t>
            </a:r>
            <a:endParaRPr lang="en-US" sz="1500" dirty="0"/>
          </a:p>
        </p:txBody>
      </p:sp>
      <p:sp>
        <p:nvSpPr>
          <p:cNvPr id="6" name="Text 4"/>
          <p:cNvSpPr/>
          <p:nvPr/>
        </p:nvSpPr>
        <p:spPr>
          <a:xfrm>
            <a:off x="4206240" y="1874520"/>
            <a:ext cx="7315200" cy="420624"/>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+16.95 score, but skill went DOWN 4 points</a:t>
            </a:r>
            <a:endParaRPr lang="en-US" sz="1450" dirty="0"/>
          </a:p>
        </p:txBody>
      </p:sp>
      <p:sp>
        <p:nvSpPr>
          <p:cNvPr id="7" name="Shape 5"/>
          <p:cNvSpPr/>
          <p:nvPr/>
        </p:nvSpPr>
        <p:spPr>
          <a:xfrm>
            <a:off x="640080" y="2606040"/>
            <a:ext cx="11064240" cy="786384"/>
          </a:xfrm>
          <a:prstGeom prst="roundRect">
            <a:avLst>
              <a:gd name="adj" fmla="val 8140"/>
            </a:avLst>
          </a:prstGeom>
          <a:solidFill>
            <a:srgbClr val="26315F"/>
          </a:solidFill>
          <a:ln w="12700">
            <a:solidFill>
              <a:srgbClr val="26315F"/>
            </a:solidFill>
            <a:prstDash val="solid"/>
          </a:ln>
        </p:spPr>
      </p:sp>
      <p:sp>
        <p:nvSpPr>
          <p:cNvPr id="8" name="Text 6"/>
          <p:cNvSpPr/>
          <p:nvPr/>
        </p:nvSpPr>
        <p:spPr>
          <a:xfrm>
            <a:off x="914400" y="2788920"/>
            <a:ext cx="320040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Threshold sweep</a:t>
            </a:r>
            <a:endParaRPr lang="en-US" sz="1500" dirty="0"/>
          </a:p>
        </p:txBody>
      </p:sp>
      <p:sp>
        <p:nvSpPr>
          <p:cNvPr id="9" name="Text 7"/>
          <p:cNvSpPr/>
          <p:nvPr/>
        </p:nvSpPr>
        <p:spPr>
          <a:xfrm>
            <a:off x="4206240" y="2788920"/>
            <a:ext cx="7315200" cy="420624"/>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moving one number beat the whole architecture</a:t>
            </a:r>
            <a:endParaRPr lang="en-US" sz="1450" dirty="0"/>
          </a:p>
        </p:txBody>
      </p:sp>
      <p:sp>
        <p:nvSpPr>
          <p:cNvPr id="10" name="Shape 8"/>
          <p:cNvSpPr/>
          <p:nvPr/>
        </p:nvSpPr>
        <p:spPr>
          <a:xfrm>
            <a:off x="640080" y="3520440"/>
            <a:ext cx="11064240" cy="786384"/>
          </a:xfrm>
          <a:prstGeom prst="roundRect">
            <a:avLst>
              <a:gd name="adj" fmla="val 8140"/>
            </a:avLst>
          </a:prstGeom>
          <a:solidFill>
            <a:srgbClr val="2A3570"/>
          </a:solidFill>
          <a:ln w="12700">
            <a:solidFill>
              <a:srgbClr val="2A3570"/>
            </a:solidFill>
            <a:prstDash val="solid"/>
          </a:ln>
        </p:spPr>
      </p:sp>
      <p:sp>
        <p:nvSpPr>
          <p:cNvPr id="11" name="Text 9"/>
          <p:cNvSpPr/>
          <p:nvPr/>
        </p:nvSpPr>
        <p:spPr>
          <a:xfrm>
            <a:off x="914400" y="3703320"/>
            <a:ext cx="320040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Adaptive thresholds</a:t>
            </a:r>
            <a:endParaRPr lang="en-US" sz="1500" dirty="0"/>
          </a:p>
        </p:txBody>
      </p:sp>
      <p:sp>
        <p:nvSpPr>
          <p:cNvPr id="12" name="Text 10"/>
          <p:cNvSpPr/>
          <p:nvPr/>
        </p:nvSpPr>
        <p:spPr>
          <a:xfrm>
            <a:off x="4206240" y="3703320"/>
            <a:ext cx="7315200" cy="420624"/>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chasing the score opened a 35.6 point gap</a:t>
            </a:r>
            <a:endParaRPr lang="en-US" sz="1450" dirty="0"/>
          </a:p>
        </p:txBody>
      </p:sp>
      <p:sp>
        <p:nvSpPr>
          <p:cNvPr id="13" name="Shape 11"/>
          <p:cNvSpPr/>
          <p:nvPr/>
        </p:nvSpPr>
        <p:spPr>
          <a:xfrm>
            <a:off x="640080" y="4434840"/>
            <a:ext cx="11064240" cy="786384"/>
          </a:xfrm>
          <a:prstGeom prst="roundRect">
            <a:avLst>
              <a:gd name="adj" fmla="val 8140"/>
            </a:avLst>
          </a:prstGeom>
          <a:solidFill>
            <a:srgbClr val="26315F"/>
          </a:solidFill>
          <a:ln w="12700">
            <a:solidFill>
              <a:srgbClr val="26315F"/>
            </a:solidFill>
            <a:prstDash val="solid"/>
          </a:ln>
        </p:spPr>
      </p:sp>
      <p:sp>
        <p:nvSpPr>
          <p:cNvPr id="14" name="Text 12"/>
          <p:cNvSpPr/>
          <p:nvPr/>
        </p:nvSpPr>
        <p:spPr>
          <a:xfrm>
            <a:off x="914400" y="4617720"/>
            <a:ext cx="3200400" cy="42062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Fairlearn / AIF360</a:t>
            </a:r>
            <a:endParaRPr lang="en-US" sz="1500" dirty="0"/>
          </a:p>
        </p:txBody>
      </p:sp>
      <p:sp>
        <p:nvSpPr>
          <p:cNvPr id="15" name="Text 13"/>
          <p:cNvSpPr/>
          <p:nvPr/>
        </p:nvSpPr>
        <p:spPr>
          <a:xfrm>
            <a:off x="4206240" y="4617720"/>
            <a:ext cx="7315200" cy="420624"/>
          </a:xfrm>
          <a:prstGeom prst="rect">
            <a:avLst/>
          </a:prstGeom>
          <a:noFill/>
          <a:ln/>
        </p:spPr>
        <p:txBody>
          <a:bodyPr wrap="square" lIns="0" tIns="0" rIns="0" bIns="0" rtlCol="0" anchor="ctr"/>
          <a:lstStyle/>
          <a:p>
            <a:pPr indent="0" marL="0">
              <a:buNone/>
            </a:pPr>
            <a:r>
              <a:rPr lang="en-US" sz="1450" dirty="0">
                <a:solidFill>
                  <a:srgbClr val="CADCFC"/>
                </a:solidFill>
                <a:latin typeface="Calibri" pitchFamily="34" charset="0"/>
                <a:ea typeface="Calibri" pitchFamily="34" charset="-122"/>
                <a:cs typeface="Calibri" pitchFamily="34" charset="-120"/>
              </a:rPr>
              <a:t>the default setting does the same thing</a:t>
            </a:r>
            <a:endParaRPr lang="en-US" sz="1450" dirty="0"/>
          </a:p>
        </p:txBody>
      </p:sp>
      <p:sp>
        <p:nvSpPr>
          <p:cNvPr id="16" name="Shape 14"/>
          <p:cNvSpPr/>
          <p:nvPr/>
        </p:nvSpPr>
        <p:spPr>
          <a:xfrm>
            <a:off x="640080" y="5440680"/>
            <a:ext cx="11064240" cy="841248"/>
          </a:xfrm>
          <a:prstGeom prst="roundRect">
            <a:avLst>
              <a:gd name="adj" fmla="val 7609"/>
            </a:avLst>
          </a:prstGeom>
          <a:solidFill>
            <a:srgbClr val="1E8449"/>
          </a:solidFill>
          <a:ln w="12700">
            <a:solidFill>
              <a:srgbClr val="1E8449"/>
            </a:solidFill>
            <a:prstDash val="solid"/>
          </a:ln>
        </p:spPr>
      </p:sp>
      <p:sp>
        <p:nvSpPr>
          <p:cNvPr id="17" name="Text 15"/>
          <p:cNvSpPr/>
          <p:nvPr/>
        </p:nvSpPr>
        <p:spPr>
          <a:xfrm>
            <a:off x="914400" y="5568696"/>
            <a:ext cx="10515600" cy="310896"/>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The score everyone reports moves a long way without the model getting any better.</a:t>
            </a:r>
            <a:endParaRPr lang="en-US" sz="1550" dirty="0"/>
          </a:p>
        </p:txBody>
      </p:sp>
      <p:sp>
        <p:nvSpPr>
          <p:cNvPr id="18" name="Text 16"/>
          <p:cNvSpPr/>
          <p:nvPr/>
        </p:nvSpPr>
        <p:spPr>
          <a:xfrm>
            <a:off x="914400" y="5897880"/>
            <a:ext cx="10515600" cy="310896"/>
          </a:xfrm>
          <a:prstGeom prst="rect">
            <a:avLst/>
          </a:prstGeom>
          <a:noFill/>
          <a:ln/>
        </p:spPr>
        <p:txBody>
          <a:bodyPr wrap="square" lIns="0" tIns="0" rIns="0" bIns="0" rtlCol="0" anchor="ctr"/>
          <a:lstStyle/>
          <a:p>
            <a:pPr indent="0" marL="0">
              <a:buNone/>
            </a:pPr>
            <a:r>
              <a:rPr lang="en-US" sz="1350" dirty="0">
                <a:solidFill>
                  <a:srgbClr val="D4EFDF"/>
                </a:solidFill>
                <a:latin typeface="Calibri" pitchFamily="34" charset="0"/>
                <a:ea typeface="Calibri" pitchFamily="34" charset="-122"/>
                <a:cs typeface="Calibri" pitchFamily="34" charset="-120"/>
              </a:rPr>
              <a:t>Physics was the one ingredient that raised real skill — +18.32 AUC — which no threshold can do.</a:t>
            </a:r>
            <a:endParaRPr lang="en-US" sz="1350" dirty="0"/>
          </a:p>
        </p:txBody>
      </p:sp>
      <p:sp>
        <p:nvSpPr>
          <p:cNvPr id="19" name="Text 17"/>
          <p:cNvSpPr/>
          <p:nvPr/>
        </p:nvSpPr>
        <p:spPr>
          <a:xfrm>
            <a:off x="640080" y="6419088"/>
            <a:ext cx="10881360" cy="310896"/>
          </a:xfrm>
          <a:prstGeom prst="rect">
            <a:avLst/>
          </a:prstGeom>
          <a:noFill/>
          <a:ln/>
        </p:spPr>
        <p:txBody>
          <a:bodyPr wrap="square"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Next: extend from 2 cities to 8, then write the paper.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2026-09-04T08:57:23Z</dcterms:created>
  <dcterms:modified xsi:type="dcterms:W3CDTF">2026-09-04T08:57:23Z</dcterms:modified>
</cp:coreProperties>
</file>